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7" r:id="rId8"/>
    <p:sldId id="268" r:id="rId9"/>
    <p:sldId id="265" r:id="rId10"/>
    <p:sldId id="266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69"/>
    <p:restoredTop sz="94459"/>
  </p:normalViewPr>
  <p:slideViewPr>
    <p:cSldViewPr snapToGrid="0" snapToObjects="1">
      <p:cViewPr varScale="1">
        <p:scale>
          <a:sx n="120" d="100"/>
          <a:sy n="120" d="100"/>
        </p:scale>
        <p:origin x="184" y="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6DE2A8-7086-488B-BB0A-7514FFBFC09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CA3A3A8-7D85-461D-8B43-2D3C2C8CB2BF}">
      <dgm:prSet/>
      <dgm:spPr/>
      <dgm:t>
        <a:bodyPr/>
        <a:lstStyle/>
        <a:p>
          <a:r>
            <a:rPr lang="en-US" dirty="0"/>
            <a:t>Global electrification expansion is central to sustainable development, yet grid vulnerability persists in extreme weather events.</a:t>
          </a:r>
        </a:p>
      </dgm:t>
    </dgm:pt>
    <dgm:pt modelId="{A50A9F11-4518-40F5-8DC1-324EE520E16B}" type="parTrans" cxnId="{21222E7D-2571-4B17-BC9D-537DDAB79D79}">
      <dgm:prSet/>
      <dgm:spPr/>
      <dgm:t>
        <a:bodyPr/>
        <a:lstStyle/>
        <a:p>
          <a:endParaRPr lang="en-US"/>
        </a:p>
      </dgm:t>
    </dgm:pt>
    <dgm:pt modelId="{5F199E1F-F013-439F-8906-BA0D56DF1434}" type="sibTrans" cxnId="{21222E7D-2571-4B17-BC9D-537DDAB79D79}">
      <dgm:prSet/>
      <dgm:spPr/>
      <dgm:t>
        <a:bodyPr/>
        <a:lstStyle/>
        <a:p>
          <a:endParaRPr lang="en-US"/>
        </a:p>
      </dgm:t>
    </dgm:pt>
    <dgm:pt modelId="{F052A0C5-67C3-4575-8041-A67E11C34070}">
      <dgm:prSet/>
      <dgm:spPr/>
      <dgm:t>
        <a:bodyPr/>
        <a:lstStyle/>
        <a:p>
          <a:r>
            <a:rPr lang="en-US"/>
            <a:t>Power outages during natural disasters disproportionately impact critical infrastructure and vulnerable populations.</a:t>
          </a:r>
        </a:p>
      </dgm:t>
    </dgm:pt>
    <dgm:pt modelId="{9D3EB04F-EE92-4F06-B641-0EA1580DFE23}" type="parTrans" cxnId="{3B9DD65A-0BE3-4C17-B0BB-0B249469163C}">
      <dgm:prSet/>
      <dgm:spPr/>
      <dgm:t>
        <a:bodyPr/>
        <a:lstStyle/>
        <a:p>
          <a:endParaRPr lang="en-US"/>
        </a:p>
      </dgm:t>
    </dgm:pt>
    <dgm:pt modelId="{605EB64C-EA98-4A4B-866D-4C0616D40AB6}" type="sibTrans" cxnId="{3B9DD65A-0BE3-4C17-B0BB-0B249469163C}">
      <dgm:prSet/>
      <dgm:spPr/>
      <dgm:t>
        <a:bodyPr/>
        <a:lstStyle/>
        <a:p>
          <a:endParaRPr lang="en-US"/>
        </a:p>
      </dgm:t>
    </dgm:pt>
    <dgm:pt modelId="{285B7075-BC4F-4328-B7A0-269A98B043F1}">
      <dgm:prSet/>
      <dgm:spPr/>
      <dgm:t>
        <a:bodyPr/>
        <a:lstStyle/>
        <a:p>
          <a:r>
            <a:rPr lang="en-US"/>
            <a:t>Backup generators serve as essential resilience infrastructure, yet their deployment and operational patterns remain largely unquantified.</a:t>
          </a:r>
        </a:p>
      </dgm:t>
    </dgm:pt>
    <dgm:pt modelId="{3126AEF3-7951-465E-A6BD-9C941B6AED06}" type="parTrans" cxnId="{03B2B20F-471C-4130-9518-9A68112FE5E8}">
      <dgm:prSet/>
      <dgm:spPr/>
      <dgm:t>
        <a:bodyPr/>
        <a:lstStyle/>
        <a:p>
          <a:endParaRPr lang="en-US"/>
        </a:p>
      </dgm:t>
    </dgm:pt>
    <dgm:pt modelId="{3FF67AD0-740D-477C-BE5A-049ED685D54A}" type="sibTrans" cxnId="{03B2B20F-471C-4130-9518-9A68112FE5E8}">
      <dgm:prSet/>
      <dgm:spPr/>
      <dgm:t>
        <a:bodyPr/>
        <a:lstStyle/>
        <a:p>
          <a:endParaRPr lang="en-US"/>
        </a:p>
      </dgm:t>
    </dgm:pt>
    <dgm:pt modelId="{90361B0E-C43C-499F-A0AE-7DBDDB0699A8}">
      <dgm:prSet/>
      <dgm:spPr/>
      <dgm:t>
        <a:bodyPr/>
        <a:lstStyle/>
        <a:p>
          <a:r>
            <a:rPr lang="en-US"/>
            <a:t>Diesel-powered generators contribute to localized air pollution emissions, raising environmental justice and public health concerns.</a:t>
          </a:r>
        </a:p>
      </dgm:t>
    </dgm:pt>
    <dgm:pt modelId="{9A40F0ED-949B-4550-B4B3-6F20DD358FB0}" type="parTrans" cxnId="{44391868-E1E7-4B80-9A26-0B165666339A}">
      <dgm:prSet/>
      <dgm:spPr/>
      <dgm:t>
        <a:bodyPr/>
        <a:lstStyle/>
        <a:p>
          <a:endParaRPr lang="en-US"/>
        </a:p>
      </dgm:t>
    </dgm:pt>
    <dgm:pt modelId="{F43BF68C-25BE-4AE7-96A4-1E2EEDA0422D}" type="sibTrans" cxnId="{44391868-E1E7-4B80-9A26-0B165666339A}">
      <dgm:prSet/>
      <dgm:spPr/>
      <dgm:t>
        <a:bodyPr/>
        <a:lstStyle/>
        <a:p>
          <a:endParaRPr lang="en-US"/>
        </a:p>
      </dgm:t>
    </dgm:pt>
    <dgm:pt modelId="{64920395-4FB4-4BE0-8FF3-6C64D0BEC108}">
      <dgm:prSet/>
      <dgm:spPr/>
      <dgm:t>
        <a:bodyPr/>
        <a:lstStyle/>
        <a:p>
          <a:r>
            <a:rPr lang="en-US"/>
            <a:t>A critical research gap: systematic methods for detecting and quantifying backup generator usage at scale are lacking.</a:t>
          </a:r>
        </a:p>
      </dgm:t>
    </dgm:pt>
    <dgm:pt modelId="{BCF20E73-E996-4ACB-B8C1-C272C9A4B5AF}" type="parTrans" cxnId="{D57B2388-9ED6-413F-AEC8-2348A98F4508}">
      <dgm:prSet/>
      <dgm:spPr/>
      <dgm:t>
        <a:bodyPr/>
        <a:lstStyle/>
        <a:p>
          <a:endParaRPr lang="en-US"/>
        </a:p>
      </dgm:t>
    </dgm:pt>
    <dgm:pt modelId="{E76B0FF8-124F-4EA2-B11D-1DA2826F8700}" type="sibTrans" cxnId="{D57B2388-9ED6-413F-AEC8-2348A98F4508}">
      <dgm:prSet/>
      <dgm:spPr/>
      <dgm:t>
        <a:bodyPr/>
        <a:lstStyle/>
        <a:p>
          <a:endParaRPr lang="en-US"/>
        </a:p>
      </dgm:t>
    </dgm:pt>
    <dgm:pt modelId="{7DC02D45-961A-0346-9630-EEC31E60FC80}" type="pres">
      <dgm:prSet presAssocID="{3F6DE2A8-7086-488B-BB0A-7514FFBFC09B}" presName="linear" presStyleCnt="0">
        <dgm:presLayoutVars>
          <dgm:animLvl val="lvl"/>
          <dgm:resizeHandles val="exact"/>
        </dgm:presLayoutVars>
      </dgm:prSet>
      <dgm:spPr/>
    </dgm:pt>
    <dgm:pt modelId="{B74E9C0F-12B2-6C4C-9AC1-BD58D986D1E4}" type="pres">
      <dgm:prSet presAssocID="{ECA3A3A8-7D85-461D-8B43-2D3C2C8CB2B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E076871-738B-7C4C-A988-A8455AC3D6C9}" type="pres">
      <dgm:prSet presAssocID="{5F199E1F-F013-439F-8906-BA0D56DF1434}" presName="spacer" presStyleCnt="0"/>
      <dgm:spPr/>
    </dgm:pt>
    <dgm:pt modelId="{87C9038E-F4E8-4D46-8B3F-2CCE09405F3D}" type="pres">
      <dgm:prSet presAssocID="{F052A0C5-67C3-4575-8041-A67E11C3407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2F4A4EB-53D4-FC4E-9FC1-493D1E7E55DD}" type="pres">
      <dgm:prSet presAssocID="{605EB64C-EA98-4A4B-866D-4C0616D40AB6}" presName="spacer" presStyleCnt="0"/>
      <dgm:spPr/>
    </dgm:pt>
    <dgm:pt modelId="{C93B3D52-6FB4-DC4D-9761-C5327912190E}" type="pres">
      <dgm:prSet presAssocID="{285B7075-BC4F-4328-B7A0-269A98B043F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0835FE6-A801-9B44-9DDF-2900F289AC84}" type="pres">
      <dgm:prSet presAssocID="{3FF67AD0-740D-477C-BE5A-049ED685D54A}" presName="spacer" presStyleCnt="0"/>
      <dgm:spPr/>
    </dgm:pt>
    <dgm:pt modelId="{C59D1386-A377-2349-A621-9EFB0DE00BF4}" type="pres">
      <dgm:prSet presAssocID="{90361B0E-C43C-499F-A0AE-7DBDDB0699A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C216B09-EB9A-A140-BD1B-2A99E44B57FD}" type="pres">
      <dgm:prSet presAssocID="{F43BF68C-25BE-4AE7-96A4-1E2EEDA0422D}" presName="spacer" presStyleCnt="0"/>
      <dgm:spPr/>
    </dgm:pt>
    <dgm:pt modelId="{0D7E5F91-001C-DB4D-97F2-137D3337C1B7}" type="pres">
      <dgm:prSet presAssocID="{64920395-4FB4-4BE0-8FF3-6C64D0BEC10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77FBF04-4D63-D143-BABE-FACC90DFC8E2}" type="presOf" srcId="{285B7075-BC4F-4328-B7A0-269A98B043F1}" destId="{C93B3D52-6FB4-DC4D-9761-C5327912190E}" srcOrd="0" destOrd="0" presId="urn:microsoft.com/office/officeart/2005/8/layout/vList2"/>
    <dgm:cxn modelId="{03B2B20F-471C-4130-9518-9A68112FE5E8}" srcId="{3F6DE2A8-7086-488B-BB0A-7514FFBFC09B}" destId="{285B7075-BC4F-4328-B7A0-269A98B043F1}" srcOrd="2" destOrd="0" parTransId="{3126AEF3-7951-465E-A6BD-9C941B6AED06}" sibTransId="{3FF67AD0-740D-477C-BE5A-049ED685D54A}"/>
    <dgm:cxn modelId="{3B9DD65A-0BE3-4C17-B0BB-0B249469163C}" srcId="{3F6DE2A8-7086-488B-BB0A-7514FFBFC09B}" destId="{F052A0C5-67C3-4575-8041-A67E11C34070}" srcOrd="1" destOrd="0" parTransId="{9D3EB04F-EE92-4F06-B641-0EA1580DFE23}" sibTransId="{605EB64C-EA98-4A4B-866D-4C0616D40AB6}"/>
    <dgm:cxn modelId="{44391868-E1E7-4B80-9A26-0B165666339A}" srcId="{3F6DE2A8-7086-488B-BB0A-7514FFBFC09B}" destId="{90361B0E-C43C-499F-A0AE-7DBDDB0699A8}" srcOrd="3" destOrd="0" parTransId="{9A40F0ED-949B-4550-B4B3-6F20DD358FB0}" sibTransId="{F43BF68C-25BE-4AE7-96A4-1E2EEDA0422D}"/>
    <dgm:cxn modelId="{21222E7D-2571-4B17-BC9D-537DDAB79D79}" srcId="{3F6DE2A8-7086-488B-BB0A-7514FFBFC09B}" destId="{ECA3A3A8-7D85-461D-8B43-2D3C2C8CB2BF}" srcOrd="0" destOrd="0" parTransId="{A50A9F11-4518-40F5-8DC1-324EE520E16B}" sibTransId="{5F199E1F-F013-439F-8906-BA0D56DF1434}"/>
    <dgm:cxn modelId="{D57B2388-9ED6-413F-AEC8-2348A98F4508}" srcId="{3F6DE2A8-7086-488B-BB0A-7514FFBFC09B}" destId="{64920395-4FB4-4BE0-8FF3-6C64D0BEC108}" srcOrd="4" destOrd="0" parTransId="{BCF20E73-E996-4ACB-B8C1-C272C9A4B5AF}" sibTransId="{E76B0FF8-124F-4EA2-B11D-1DA2826F8700}"/>
    <dgm:cxn modelId="{0D30A992-F256-F845-A29F-FE454BB7AFF6}" type="presOf" srcId="{3F6DE2A8-7086-488B-BB0A-7514FFBFC09B}" destId="{7DC02D45-961A-0346-9630-EEC31E60FC80}" srcOrd="0" destOrd="0" presId="urn:microsoft.com/office/officeart/2005/8/layout/vList2"/>
    <dgm:cxn modelId="{7950249A-DFDB-4646-A76F-D04F4A8FCF93}" type="presOf" srcId="{F052A0C5-67C3-4575-8041-A67E11C34070}" destId="{87C9038E-F4E8-4D46-8B3F-2CCE09405F3D}" srcOrd="0" destOrd="0" presId="urn:microsoft.com/office/officeart/2005/8/layout/vList2"/>
    <dgm:cxn modelId="{DBD13BB7-C50D-5D4B-9CD3-1C6FA9384219}" type="presOf" srcId="{90361B0E-C43C-499F-A0AE-7DBDDB0699A8}" destId="{C59D1386-A377-2349-A621-9EFB0DE00BF4}" srcOrd="0" destOrd="0" presId="urn:microsoft.com/office/officeart/2005/8/layout/vList2"/>
    <dgm:cxn modelId="{A57395E5-9438-F94F-BB80-34B893DA94F4}" type="presOf" srcId="{ECA3A3A8-7D85-461D-8B43-2D3C2C8CB2BF}" destId="{B74E9C0F-12B2-6C4C-9AC1-BD58D986D1E4}" srcOrd="0" destOrd="0" presId="urn:microsoft.com/office/officeart/2005/8/layout/vList2"/>
    <dgm:cxn modelId="{8737DFF4-CECA-9B4D-B498-2DAC309DB593}" type="presOf" srcId="{64920395-4FB4-4BE0-8FF3-6C64D0BEC108}" destId="{0D7E5F91-001C-DB4D-97F2-137D3337C1B7}" srcOrd="0" destOrd="0" presId="urn:microsoft.com/office/officeart/2005/8/layout/vList2"/>
    <dgm:cxn modelId="{C9602E65-5FA8-A044-8D13-19252188AF39}" type="presParOf" srcId="{7DC02D45-961A-0346-9630-EEC31E60FC80}" destId="{B74E9C0F-12B2-6C4C-9AC1-BD58D986D1E4}" srcOrd="0" destOrd="0" presId="urn:microsoft.com/office/officeart/2005/8/layout/vList2"/>
    <dgm:cxn modelId="{FA39F41A-A869-BF47-95DB-28EC136664E6}" type="presParOf" srcId="{7DC02D45-961A-0346-9630-EEC31E60FC80}" destId="{0E076871-738B-7C4C-A988-A8455AC3D6C9}" srcOrd="1" destOrd="0" presId="urn:microsoft.com/office/officeart/2005/8/layout/vList2"/>
    <dgm:cxn modelId="{84398BFB-C2FB-7840-9099-69654F119A7F}" type="presParOf" srcId="{7DC02D45-961A-0346-9630-EEC31E60FC80}" destId="{87C9038E-F4E8-4D46-8B3F-2CCE09405F3D}" srcOrd="2" destOrd="0" presId="urn:microsoft.com/office/officeart/2005/8/layout/vList2"/>
    <dgm:cxn modelId="{6803CA93-265F-4542-ADE7-99E020269848}" type="presParOf" srcId="{7DC02D45-961A-0346-9630-EEC31E60FC80}" destId="{52F4A4EB-53D4-FC4E-9FC1-493D1E7E55DD}" srcOrd="3" destOrd="0" presId="urn:microsoft.com/office/officeart/2005/8/layout/vList2"/>
    <dgm:cxn modelId="{25C7B51D-8343-8B4D-B057-53AF50BADE61}" type="presParOf" srcId="{7DC02D45-961A-0346-9630-EEC31E60FC80}" destId="{C93B3D52-6FB4-DC4D-9761-C5327912190E}" srcOrd="4" destOrd="0" presId="urn:microsoft.com/office/officeart/2005/8/layout/vList2"/>
    <dgm:cxn modelId="{4D1FEE8E-E29B-9741-90C1-BC9B7AE09DB0}" type="presParOf" srcId="{7DC02D45-961A-0346-9630-EEC31E60FC80}" destId="{10835FE6-A801-9B44-9DDF-2900F289AC84}" srcOrd="5" destOrd="0" presId="urn:microsoft.com/office/officeart/2005/8/layout/vList2"/>
    <dgm:cxn modelId="{1FE5EAC6-F8A8-FA41-9FEF-F26DAF4D72B3}" type="presParOf" srcId="{7DC02D45-961A-0346-9630-EEC31E60FC80}" destId="{C59D1386-A377-2349-A621-9EFB0DE00BF4}" srcOrd="6" destOrd="0" presId="urn:microsoft.com/office/officeart/2005/8/layout/vList2"/>
    <dgm:cxn modelId="{BD619E48-116C-6243-B858-C432EA151562}" type="presParOf" srcId="{7DC02D45-961A-0346-9630-EEC31E60FC80}" destId="{4C216B09-EB9A-A140-BD1B-2A99E44B57FD}" srcOrd="7" destOrd="0" presId="urn:microsoft.com/office/officeart/2005/8/layout/vList2"/>
    <dgm:cxn modelId="{C92865D1-B4B3-8C43-96F1-F70F925BAC58}" type="presParOf" srcId="{7DC02D45-961A-0346-9630-EEC31E60FC80}" destId="{0D7E5F91-001C-DB4D-97F2-137D3337C1B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9910ED-E2FA-4D5E-B734-6605C39EC27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15E95CF-0730-4E3A-9973-E6DD4594F004}">
      <dgm:prSet custT="1"/>
      <dgm:spPr/>
      <dgm:t>
        <a:bodyPr/>
        <a:lstStyle/>
        <a:p>
          <a:r>
            <a:rPr lang="en-US" sz="2000" dirty="0"/>
            <a:t>Develop an indirect method to identify backup generator usage during power outages.</a:t>
          </a:r>
        </a:p>
      </dgm:t>
    </dgm:pt>
    <dgm:pt modelId="{06B0583A-8CC9-40E9-A26D-7B503A9C313B}" type="parTrans" cxnId="{73E038A4-14D1-4E5E-B8FA-EBB516E81FBF}">
      <dgm:prSet/>
      <dgm:spPr/>
      <dgm:t>
        <a:bodyPr/>
        <a:lstStyle/>
        <a:p>
          <a:endParaRPr lang="en-US"/>
        </a:p>
      </dgm:t>
    </dgm:pt>
    <dgm:pt modelId="{4278D244-1437-4590-B8E0-BBA161B4E0AB}" type="sibTrans" cxnId="{73E038A4-14D1-4E5E-B8FA-EBB516E81FBF}">
      <dgm:prSet/>
      <dgm:spPr/>
      <dgm:t>
        <a:bodyPr/>
        <a:lstStyle/>
        <a:p>
          <a:endParaRPr lang="en-US"/>
        </a:p>
      </dgm:t>
    </dgm:pt>
    <dgm:pt modelId="{03DC1D67-3997-491E-A674-05943E9EA6E5}">
      <dgm:prSet custT="1"/>
      <dgm:spPr/>
      <dgm:t>
        <a:bodyPr/>
        <a:lstStyle/>
        <a:p>
          <a:r>
            <a:rPr lang="en-US" sz="2000" dirty="0"/>
            <a:t>Use satellite-based nighttime light observations and outage records.</a:t>
          </a:r>
        </a:p>
      </dgm:t>
    </dgm:pt>
    <dgm:pt modelId="{D8CE20E2-60AA-4038-B4FE-8C4DBD72801A}" type="parTrans" cxnId="{C50F43F3-A7B6-45BC-9769-DBE062123B8B}">
      <dgm:prSet/>
      <dgm:spPr/>
      <dgm:t>
        <a:bodyPr/>
        <a:lstStyle/>
        <a:p>
          <a:endParaRPr lang="en-US"/>
        </a:p>
      </dgm:t>
    </dgm:pt>
    <dgm:pt modelId="{B5F641E3-963B-433A-9779-9DCD11DB128B}" type="sibTrans" cxnId="{C50F43F3-A7B6-45BC-9769-DBE062123B8B}">
      <dgm:prSet/>
      <dgm:spPr/>
      <dgm:t>
        <a:bodyPr/>
        <a:lstStyle/>
        <a:p>
          <a:endParaRPr lang="en-US"/>
        </a:p>
      </dgm:t>
    </dgm:pt>
    <dgm:pt modelId="{18161212-ED4A-4406-A70C-64D5C03C9B33}">
      <dgm:prSet custT="1"/>
      <dgm:spPr/>
      <dgm:t>
        <a:bodyPr/>
        <a:lstStyle/>
        <a:p>
          <a:r>
            <a:rPr lang="en-US" sz="2000" dirty="0"/>
            <a:t>Provide spatially explicit evidence to support environmental and policy analysis.</a:t>
          </a:r>
        </a:p>
      </dgm:t>
    </dgm:pt>
    <dgm:pt modelId="{E8518BEF-BFDF-4179-B318-7443791C3282}" type="parTrans" cxnId="{9308C40E-58AF-4A7F-9D6A-623CBCCBE786}">
      <dgm:prSet/>
      <dgm:spPr/>
      <dgm:t>
        <a:bodyPr/>
        <a:lstStyle/>
        <a:p>
          <a:endParaRPr lang="en-US"/>
        </a:p>
      </dgm:t>
    </dgm:pt>
    <dgm:pt modelId="{0EC0DC11-B2CF-480F-9702-687B507302C3}" type="sibTrans" cxnId="{9308C40E-58AF-4A7F-9D6A-623CBCCBE786}">
      <dgm:prSet/>
      <dgm:spPr/>
      <dgm:t>
        <a:bodyPr/>
        <a:lstStyle/>
        <a:p>
          <a:endParaRPr lang="en-US"/>
        </a:p>
      </dgm:t>
    </dgm:pt>
    <dgm:pt modelId="{71F01D4C-4475-40F1-9DC4-E16420D7BDBF}" type="pres">
      <dgm:prSet presAssocID="{109910ED-E2FA-4D5E-B734-6605C39EC277}" presName="root" presStyleCnt="0">
        <dgm:presLayoutVars>
          <dgm:dir/>
          <dgm:resizeHandles val="exact"/>
        </dgm:presLayoutVars>
      </dgm:prSet>
      <dgm:spPr/>
    </dgm:pt>
    <dgm:pt modelId="{16413E02-444E-4BC7-AFFB-1ED29A1F20EA}" type="pres">
      <dgm:prSet presAssocID="{415E95CF-0730-4E3A-9973-E6DD4594F004}" presName="compNode" presStyleCnt="0"/>
      <dgm:spPr/>
    </dgm:pt>
    <dgm:pt modelId="{ECED6040-11D4-47A9-90CD-6112B22F9886}" type="pres">
      <dgm:prSet presAssocID="{415E95CF-0730-4E3A-9973-E6DD4594F00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6EF9D8BA-3A3B-4255-BBCA-1F120368D9F9}" type="pres">
      <dgm:prSet presAssocID="{415E95CF-0730-4E3A-9973-E6DD4594F004}" presName="spaceRect" presStyleCnt="0"/>
      <dgm:spPr/>
    </dgm:pt>
    <dgm:pt modelId="{7FD268DD-20AE-425A-A6F5-D4B799EF08AA}" type="pres">
      <dgm:prSet presAssocID="{415E95CF-0730-4E3A-9973-E6DD4594F004}" presName="textRect" presStyleLbl="revTx" presStyleIdx="0" presStyleCnt="3">
        <dgm:presLayoutVars>
          <dgm:chMax val="1"/>
          <dgm:chPref val="1"/>
        </dgm:presLayoutVars>
      </dgm:prSet>
      <dgm:spPr/>
    </dgm:pt>
    <dgm:pt modelId="{0EAA5679-FB50-4698-AC3A-418A73801151}" type="pres">
      <dgm:prSet presAssocID="{4278D244-1437-4590-B8E0-BBA161B4E0AB}" presName="sibTrans" presStyleCnt="0"/>
      <dgm:spPr/>
    </dgm:pt>
    <dgm:pt modelId="{8943F152-4507-4669-89BC-7BC1B8134E32}" type="pres">
      <dgm:prSet presAssocID="{03DC1D67-3997-491E-A674-05943E9EA6E5}" presName="compNode" presStyleCnt="0"/>
      <dgm:spPr/>
    </dgm:pt>
    <dgm:pt modelId="{88288784-44CA-471C-8C67-62FB812E1BD4}" type="pres">
      <dgm:prSet presAssocID="{03DC1D67-3997-491E-A674-05943E9EA6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卫星"/>
        </a:ext>
      </dgm:extLst>
    </dgm:pt>
    <dgm:pt modelId="{70667448-E270-4A52-A600-01C4B7A8D8EC}" type="pres">
      <dgm:prSet presAssocID="{03DC1D67-3997-491E-A674-05943E9EA6E5}" presName="spaceRect" presStyleCnt="0"/>
      <dgm:spPr/>
    </dgm:pt>
    <dgm:pt modelId="{4B58E342-E324-427E-A8A3-CC8C5F08BEF9}" type="pres">
      <dgm:prSet presAssocID="{03DC1D67-3997-491E-A674-05943E9EA6E5}" presName="textRect" presStyleLbl="revTx" presStyleIdx="1" presStyleCnt="3">
        <dgm:presLayoutVars>
          <dgm:chMax val="1"/>
          <dgm:chPref val="1"/>
        </dgm:presLayoutVars>
      </dgm:prSet>
      <dgm:spPr/>
    </dgm:pt>
    <dgm:pt modelId="{E2C220F7-E0AD-441A-9FB5-D808C08BA0EF}" type="pres">
      <dgm:prSet presAssocID="{B5F641E3-963B-433A-9779-9DCD11DB128B}" presName="sibTrans" presStyleCnt="0"/>
      <dgm:spPr/>
    </dgm:pt>
    <dgm:pt modelId="{FBF96204-D215-4652-9516-2A1BAAE116F1}" type="pres">
      <dgm:prSet presAssocID="{18161212-ED4A-4406-A70C-64D5C03C9B33}" presName="compNode" presStyleCnt="0"/>
      <dgm:spPr/>
    </dgm:pt>
    <dgm:pt modelId="{BC1497AB-FBA3-4BB5-981A-BAE9CEC84B7F}" type="pres">
      <dgm:prSet presAssocID="{18161212-ED4A-4406-A70C-64D5C03C9B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67D70E08-5EE6-4A75-B242-FA8127DC33FC}" type="pres">
      <dgm:prSet presAssocID="{18161212-ED4A-4406-A70C-64D5C03C9B33}" presName="spaceRect" presStyleCnt="0"/>
      <dgm:spPr/>
    </dgm:pt>
    <dgm:pt modelId="{97B3DFDE-1A22-46CD-872F-787F3EB2831B}" type="pres">
      <dgm:prSet presAssocID="{18161212-ED4A-4406-A70C-64D5C03C9B3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308C40E-58AF-4A7F-9D6A-623CBCCBE786}" srcId="{109910ED-E2FA-4D5E-B734-6605C39EC277}" destId="{18161212-ED4A-4406-A70C-64D5C03C9B33}" srcOrd="2" destOrd="0" parTransId="{E8518BEF-BFDF-4179-B318-7443791C3282}" sibTransId="{0EC0DC11-B2CF-480F-9702-687B507302C3}"/>
    <dgm:cxn modelId="{1F8D2930-B942-428C-832B-58A7A283ECB2}" type="presOf" srcId="{415E95CF-0730-4E3A-9973-E6DD4594F004}" destId="{7FD268DD-20AE-425A-A6F5-D4B799EF08AA}" srcOrd="0" destOrd="0" presId="urn:microsoft.com/office/officeart/2018/2/layout/IconLabelList"/>
    <dgm:cxn modelId="{7C028446-926D-4A41-8DBF-BB92E29B1509}" type="presOf" srcId="{18161212-ED4A-4406-A70C-64D5C03C9B33}" destId="{97B3DFDE-1A22-46CD-872F-787F3EB2831B}" srcOrd="0" destOrd="0" presId="urn:microsoft.com/office/officeart/2018/2/layout/IconLabelList"/>
    <dgm:cxn modelId="{73E038A4-14D1-4E5E-B8FA-EBB516E81FBF}" srcId="{109910ED-E2FA-4D5E-B734-6605C39EC277}" destId="{415E95CF-0730-4E3A-9973-E6DD4594F004}" srcOrd="0" destOrd="0" parTransId="{06B0583A-8CC9-40E9-A26D-7B503A9C313B}" sibTransId="{4278D244-1437-4590-B8E0-BBA161B4E0AB}"/>
    <dgm:cxn modelId="{3063D3B4-6080-4B86-BDC6-76186BB8F753}" type="presOf" srcId="{109910ED-E2FA-4D5E-B734-6605C39EC277}" destId="{71F01D4C-4475-40F1-9DC4-E16420D7BDBF}" srcOrd="0" destOrd="0" presId="urn:microsoft.com/office/officeart/2018/2/layout/IconLabelList"/>
    <dgm:cxn modelId="{ACE7AEDB-E2D0-447D-95D9-5140B7BAD4CB}" type="presOf" srcId="{03DC1D67-3997-491E-A674-05943E9EA6E5}" destId="{4B58E342-E324-427E-A8A3-CC8C5F08BEF9}" srcOrd="0" destOrd="0" presId="urn:microsoft.com/office/officeart/2018/2/layout/IconLabelList"/>
    <dgm:cxn modelId="{C50F43F3-A7B6-45BC-9769-DBE062123B8B}" srcId="{109910ED-E2FA-4D5E-B734-6605C39EC277}" destId="{03DC1D67-3997-491E-A674-05943E9EA6E5}" srcOrd="1" destOrd="0" parTransId="{D8CE20E2-60AA-4038-B4FE-8C4DBD72801A}" sibTransId="{B5F641E3-963B-433A-9779-9DCD11DB128B}"/>
    <dgm:cxn modelId="{1EA70D28-43CE-4B21-8A72-65D6873B788D}" type="presParOf" srcId="{71F01D4C-4475-40F1-9DC4-E16420D7BDBF}" destId="{16413E02-444E-4BC7-AFFB-1ED29A1F20EA}" srcOrd="0" destOrd="0" presId="urn:microsoft.com/office/officeart/2018/2/layout/IconLabelList"/>
    <dgm:cxn modelId="{C11811AE-BC52-4056-999B-FE4DB1B87148}" type="presParOf" srcId="{16413E02-444E-4BC7-AFFB-1ED29A1F20EA}" destId="{ECED6040-11D4-47A9-90CD-6112B22F9886}" srcOrd="0" destOrd="0" presId="urn:microsoft.com/office/officeart/2018/2/layout/IconLabelList"/>
    <dgm:cxn modelId="{E0B4A6A4-D9EB-4299-9AAD-ED8C8EFC9AC4}" type="presParOf" srcId="{16413E02-444E-4BC7-AFFB-1ED29A1F20EA}" destId="{6EF9D8BA-3A3B-4255-BBCA-1F120368D9F9}" srcOrd="1" destOrd="0" presId="urn:microsoft.com/office/officeart/2018/2/layout/IconLabelList"/>
    <dgm:cxn modelId="{B66A55DA-D3B9-420A-865B-DEAFD678558F}" type="presParOf" srcId="{16413E02-444E-4BC7-AFFB-1ED29A1F20EA}" destId="{7FD268DD-20AE-425A-A6F5-D4B799EF08AA}" srcOrd="2" destOrd="0" presId="urn:microsoft.com/office/officeart/2018/2/layout/IconLabelList"/>
    <dgm:cxn modelId="{4AE0A873-828C-455B-90CC-737C551ADB26}" type="presParOf" srcId="{71F01D4C-4475-40F1-9DC4-E16420D7BDBF}" destId="{0EAA5679-FB50-4698-AC3A-418A73801151}" srcOrd="1" destOrd="0" presId="urn:microsoft.com/office/officeart/2018/2/layout/IconLabelList"/>
    <dgm:cxn modelId="{DDAEC4A2-AE14-40E2-85F9-8C10EB5AA5C4}" type="presParOf" srcId="{71F01D4C-4475-40F1-9DC4-E16420D7BDBF}" destId="{8943F152-4507-4669-89BC-7BC1B8134E32}" srcOrd="2" destOrd="0" presId="urn:microsoft.com/office/officeart/2018/2/layout/IconLabelList"/>
    <dgm:cxn modelId="{F0002480-B7E2-4236-916C-55B0ECC22A7C}" type="presParOf" srcId="{8943F152-4507-4669-89BC-7BC1B8134E32}" destId="{88288784-44CA-471C-8C67-62FB812E1BD4}" srcOrd="0" destOrd="0" presId="urn:microsoft.com/office/officeart/2018/2/layout/IconLabelList"/>
    <dgm:cxn modelId="{1603B292-1B19-4C54-8F6B-C0D79F39E0ED}" type="presParOf" srcId="{8943F152-4507-4669-89BC-7BC1B8134E32}" destId="{70667448-E270-4A52-A600-01C4B7A8D8EC}" srcOrd="1" destOrd="0" presId="urn:microsoft.com/office/officeart/2018/2/layout/IconLabelList"/>
    <dgm:cxn modelId="{F47627BD-D1A1-4ED0-966F-16922A9D7B41}" type="presParOf" srcId="{8943F152-4507-4669-89BC-7BC1B8134E32}" destId="{4B58E342-E324-427E-A8A3-CC8C5F08BEF9}" srcOrd="2" destOrd="0" presId="urn:microsoft.com/office/officeart/2018/2/layout/IconLabelList"/>
    <dgm:cxn modelId="{E0AA2E0F-F54F-4822-B7BB-2FA51A249A5E}" type="presParOf" srcId="{71F01D4C-4475-40F1-9DC4-E16420D7BDBF}" destId="{E2C220F7-E0AD-441A-9FB5-D808C08BA0EF}" srcOrd="3" destOrd="0" presId="urn:microsoft.com/office/officeart/2018/2/layout/IconLabelList"/>
    <dgm:cxn modelId="{4EE7152B-CB97-4261-B31A-A6F7F80917E7}" type="presParOf" srcId="{71F01D4C-4475-40F1-9DC4-E16420D7BDBF}" destId="{FBF96204-D215-4652-9516-2A1BAAE116F1}" srcOrd="4" destOrd="0" presId="urn:microsoft.com/office/officeart/2018/2/layout/IconLabelList"/>
    <dgm:cxn modelId="{287E2058-7F7E-41B8-8D8A-7DEBFBB584D8}" type="presParOf" srcId="{FBF96204-D215-4652-9516-2A1BAAE116F1}" destId="{BC1497AB-FBA3-4BB5-981A-BAE9CEC84B7F}" srcOrd="0" destOrd="0" presId="urn:microsoft.com/office/officeart/2018/2/layout/IconLabelList"/>
    <dgm:cxn modelId="{07A16379-FD48-484F-A6C0-2EC20B3657D9}" type="presParOf" srcId="{FBF96204-D215-4652-9516-2A1BAAE116F1}" destId="{67D70E08-5EE6-4A75-B242-FA8127DC33FC}" srcOrd="1" destOrd="0" presId="urn:microsoft.com/office/officeart/2018/2/layout/IconLabelList"/>
    <dgm:cxn modelId="{84E93D29-8EF9-4555-B057-85FFE1FA8EE5}" type="presParOf" srcId="{FBF96204-D215-4652-9516-2A1BAAE116F1}" destId="{97B3DFDE-1A22-46CD-872F-787F3EB283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DC1DBC-4DFF-4D8D-ACFF-1B4517E98BA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E03E002-FD5A-4541-BFD6-BD095DCDAA8A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Study Areas: </a:t>
          </a:r>
        </a:p>
        <a:p>
          <a:pPr>
            <a:defRPr cap="all"/>
          </a:pPr>
          <a:r>
            <a:rPr lang="en-US" sz="1400" u="sng" dirty="0"/>
            <a:t>Dallas County and Harris County (Houston), </a:t>
          </a:r>
        </a:p>
        <a:p>
          <a:pPr>
            <a:defRPr cap="all"/>
          </a:pPr>
          <a:r>
            <a:rPr lang="en-US" sz="1400" dirty="0"/>
            <a:t>Texas – selected for frequent outage events and data availability.</a:t>
          </a:r>
        </a:p>
      </dgm:t>
    </dgm:pt>
    <dgm:pt modelId="{2ACCFE78-70EC-4243-924C-B143A5852C54}" type="parTrans" cxnId="{B23358BF-C2CE-4D81-BF9B-A136F06BD37A}">
      <dgm:prSet/>
      <dgm:spPr/>
      <dgm:t>
        <a:bodyPr/>
        <a:lstStyle/>
        <a:p>
          <a:endParaRPr lang="en-US"/>
        </a:p>
      </dgm:t>
    </dgm:pt>
    <dgm:pt modelId="{D49C1A97-FE69-46C9-B0CB-DEDFD6D3F0E7}" type="sibTrans" cxnId="{B23358BF-C2CE-4D81-BF9B-A136F06BD37A}">
      <dgm:prSet/>
      <dgm:spPr/>
      <dgm:t>
        <a:bodyPr/>
        <a:lstStyle/>
        <a:p>
          <a:endParaRPr lang="en-US"/>
        </a:p>
      </dgm:t>
    </dgm:pt>
    <dgm:pt modelId="{F03C5B57-B8DE-4D54-A970-F33E668CACD3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Nighttime Light: </a:t>
          </a:r>
        </a:p>
        <a:p>
          <a:pPr>
            <a:defRPr cap="all"/>
          </a:pPr>
          <a:r>
            <a:rPr lang="en-US" sz="1400" u="sng" dirty="0"/>
            <a:t>NASA VIIRS Black Marble (VNP46A2), </a:t>
          </a:r>
        </a:p>
        <a:p>
          <a:pPr>
            <a:defRPr cap="all"/>
          </a:pPr>
          <a:r>
            <a:rPr lang="en-US" sz="1400" dirty="0"/>
            <a:t>500m resolution, daily imagery with quality flags for cloud/noise filtering.</a:t>
          </a:r>
        </a:p>
      </dgm:t>
    </dgm:pt>
    <dgm:pt modelId="{AF3DD9B4-CEA8-4DD4-B879-55A1F848168D}" type="parTrans" cxnId="{C494D26E-FA29-40C0-A9BD-5BA714673AA2}">
      <dgm:prSet/>
      <dgm:spPr/>
      <dgm:t>
        <a:bodyPr/>
        <a:lstStyle/>
        <a:p>
          <a:endParaRPr lang="en-US"/>
        </a:p>
      </dgm:t>
    </dgm:pt>
    <dgm:pt modelId="{E5057337-F4DA-4A43-A1F4-A83C4242F0B8}" type="sibTrans" cxnId="{C494D26E-FA29-40C0-A9BD-5BA714673AA2}">
      <dgm:prSet/>
      <dgm:spPr/>
      <dgm:t>
        <a:bodyPr/>
        <a:lstStyle/>
        <a:p>
          <a:endParaRPr lang="en-US"/>
        </a:p>
      </dgm:t>
    </dgm:pt>
    <dgm:pt modelId="{C5359A0D-7AB4-415C-B8FC-3120D2FAE3DA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Outage Records: </a:t>
          </a:r>
        </a:p>
        <a:p>
          <a:pPr>
            <a:defRPr cap="all"/>
          </a:pPr>
          <a:r>
            <a:rPr lang="en-US" sz="1400" u="sng" dirty="0" err="1"/>
            <a:t>OpenEI</a:t>
          </a:r>
          <a:r>
            <a:rPr lang="en-US" sz="1400" u="sng" dirty="0"/>
            <a:t> EAGLE-I dataset </a:t>
          </a:r>
          <a:r>
            <a:rPr lang="en-US" sz="1400" dirty="0"/>
            <a:t>providing county-level hourly outage customer counts (2014-present).</a:t>
          </a:r>
        </a:p>
      </dgm:t>
    </dgm:pt>
    <dgm:pt modelId="{9AB6F898-F36C-41F4-B381-F42531DFFA38}" type="parTrans" cxnId="{6C583CED-BAD3-4BFF-B087-32C30A4730CB}">
      <dgm:prSet/>
      <dgm:spPr/>
      <dgm:t>
        <a:bodyPr/>
        <a:lstStyle/>
        <a:p>
          <a:endParaRPr lang="en-US"/>
        </a:p>
      </dgm:t>
    </dgm:pt>
    <dgm:pt modelId="{75838A8C-8D33-40D7-B758-19DB7B43AC24}" type="sibTrans" cxnId="{6C583CED-BAD3-4BFF-B087-32C30A4730CB}">
      <dgm:prSet/>
      <dgm:spPr/>
      <dgm:t>
        <a:bodyPr/>
        <a:lstStyle/>
        <a:p>
          <a:endParaRPr lang="en-US"/>
        </a:p>
      </dgm:t>
    </dgm:pt>
    <dgm:pt modelId="{0713E90A-29E4-42DD-B5A0-47E870164B99}">
      <dgm:prSet custT="1"/>
      <dgm:spPr/>
      <dgm:t>
        <a:bodyPr/>
        <a:lstStyle/>
        <a:p>
          <a:pPr>
            <a:defRPr cap="all"/>
          </a:pPr>
          <a:r>
            <a:rPr lang="en-US" sz="1400" b="1" dirty="0"/>
            <a:t>POI Data: </a:t>
          </a:r>
        </a:p>
        <a:p>
          <a:pPr>
            <a:defRPr cap="all"/>
          </a:pPr>
          <a:r>
            <a:rPr lang="en-US" sz="1400" u="sng" dirty="0"/>
            <a:t>OpenStreetMap </a:t>
          </a:r>
          <a:r>
            <a:rPr lang="en-US" sz="1400" dirty="0"/>
            <a:t>critical facilities (hospitals, airports, police, fire stations…); </a:t>
          </a:r>
        </a:p>
        <a:p>
          <a:pPr>
            <a:defRPr cap="all"/>
          </a:pPr>
          <a:r>
            <a:rPr lang="en-US" sz="1400" u="sng" dirty="0"/>
            <a:t>Air Permit database </a:t>
          </a:r>
          <a:r>
            <a:rPr lang="en-US" sz="1400" dirty="0"/>
            <a:t>for post-code level generator registrations.</a:t>
          </a:r>
        </a:p>
      </dgm:t>
    </dgm:pt>
    <dgm:pt modelId="{CEEAECCC-8FAA-47A2-BF68-E3DF3DAFE57B}" type="parTrans" cxnId="{482DEAC7-4145-4C5F-914E-C17652214439}">
      <dgm:prSet/>
      <dgm:spPr/>
      <dgm:t>
        <a:bodyPr/>
        <a:lstStyle/>
        <a:p>
          <a:endParaRPr lang="en-US"/>
        </a:p>
      </dgm:t>
    </dgm:pt>
    <dgm:pt modelId="{4F353CC9-B645-457B-8CEE-936DB2D39254}" type="sibTrans" cxnId="{482DEAC7-4145-4C5F-914E-C17652214439}">
      <dgm:prSet/>
      <dgm:spPr/>
      <dgm:t>
        <a:bodyPr/>
        <a:lstStyle/>
        <a:p>
          <a:endParaRPr lang="en-US"/>
        </a:p>
      </dgm:t>
    </dgm:pt>
    <dgm:pt modelId="{71577AFC-1332-4CF2-B700-1940A596A1EE}" type="pres">
      <dgm:prSet presAssocID="{8ADC1DBC-4DFF-4D8D-ACFF-1B4517E98BA8}" presName="root" presStyleCnt="0">
        <dgm:presLayoutVars>
          <dgm:dir/>
          <dgm:resizeHandles val="exact"/>
        </dgm:presLayoutVars>
      </dgm:prSet>
      <dgm:spPr/>
    </dgm:pt>
    <dgm:pt modelId="{A0EBCA0D-86C4-46BC-BEC3-E58F6C0DACDB}" type="pres">
      <dgm:prSet presAssocID="{DE03E002-FD5A-4541-BFD6-BD095DCDAA8A}" presName="compNode" presStyleCnt="0"/>
      <dgm:spPr/>
    </dgm:pt>
    <dgm:pt modelId="{2EF17CB8-170E-44F1-94A9-C7C309BC83C8}" type="pres">
      <dgm:prSet presAssocID="{DE03E002-FD5A-4541-BFD6-BD095DCDAA8A}" presName="iconBgRect" presStyleLbl="bgShp" presStyleIdx="0" presStyleCnt="4"/>
      <dgm:spPr/>
    </dgm:pt>
    <dgm:pt modelId="{578402BE-8003-4774-BED9-518485A45900}" type="pres">
      <dgm:prSet presAssocID="{DE03E002-FD5A-4541-BFD6-BD095DCDAA8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duation Cap"/>
        </a:ext>
      </dgm:extLst>
    </dgm:pt>
    <dgm:pt modelId="{DB7CC1D6-AFC8-46C2-9F46-4D07FB5D12E6}" type="pres">
      <dgm:prSet presAssocID="{DE03E002-FD5A-4541-BFD6-BD095DCDAA8A}" presName="spaceRect" presStyleCnt="0"/>
      <dgm:spPr/>
    </dgm:pt>
    <dgm:pt modelId="{A160CC31-D510-451F-8006-F9F245EFD9E0}" type="pres">
      <dgm:prSet presAssocID="{DE03E002-FD5A-4541-BFD6-BD095DCDAA8A}" presName="textRect" presStyleLbl="revTx" presStyleIdx="0" presStyleCnt="4">
        <dgm:presLayoutVars>
          <dgm:chMax val="1"/>
          <dgm:chPref val="1"/>
        </dgm:presLayoutVars>
      </dgm:prSet>
      <dgm:spPr/>
    </dgm:pt>
    <dgm:pt modelId="{65EA5BF4-D1F7-4B1D-A45D-ADB1D53F7C5B}" type="pres">
      <dgm:prSet presAssocID="{D49C1A97-FE69-46C9-B0CB-DEDFD6D3F0E7}" presName="sibTrans" presStyleCnt="0"/>
      <dgm:spPr/>
    </dgm:pt>
    <dgm:pt modelId="{AAF0944D-F29E-42F3-A0A5-E117750D4C76}" type="pres">
      <dgm:prSet presAssocID="{F03C5B57-B8DE-4D54-A970-F33E668CACD3}" presName="compNode" presStyleCnt="0"/>
      <dgm:spPr/>
    </dgm:pt>
    <dgm:pt modelId="{BEDCED29-169F-4DD8-9828-53DE17E87DFF}" type="pres">
      <dgm:prSet presAssocID="{F03C5B57-B8DE-4D54-A970-F33E668CACD3}" presName="iconBgRect" presStyleLbl="bgShp" presStyleIdx="1" presStyleCnt="4"/>
      <dgm:spPr/>
    </dgm:pt>
    <dgm:pt modelId="{5E036281-9EF0-4987-909D-84F33FC04685}" type="pres">
      <dgm:prSet presAssocID="{F03C5B57-B8DE-4D54-A970-F33E668CACD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灯笼"/>
        </a:ext>
      </dgm:extLst>
    </dgm:pt>
    <dgm:pt modelId="{32CCECFB-98F7-4B5B-A098-44C4B8CCE1C4}" type="pres">
      <dgm:prSet presAssocID="{F03C5B57-B8DE-4D54-A970-F33E668CACD3}" presName="spaceRect" presStyleCnt="0"/>
      <dgm:spPr/>
    </dgm:pt>
    <dgm:pt modelId="{2C5DB2B3-5AC8-4F55-90DE-E347EA612FCA}" type="pres">
      <dgm:prSet presAssocID="{F03C5B57-B8DE-4D54-A970-F33E668CACD3}" presName="textRect" presStyleLbl="revTx" presStyleIdx="1" presStyleCnt="4">
        <dgm:presLayoutVars>
          <dgm:chMax val="1"/>
          <dgm:chPref val="1"/>
        </dgm:presLayoutVars>
      </dgm:prSet>
      <dgm:spPr/>
    </dgm:pt>
    <dgm:pt modelId="{C10DE5E8-B99D-49E9-B4E8-C49CE0477300}" type="pres">
      <dgm:prSet presAssocID="{E5057337-F4DA-4A43-A1F4-A83C4242F0B8}" presName="sibTrans" presStyleCnt="0"/>
      <dgm:spPr/>
    </dgm:pt>
    <dgm:pt modelId="{42A83344-1CE3-49B6-8036-6FD221705AC0}" type="pres">
      <dgm:prSet presAssocID="{C5359A0D-7AB4-415C-B8FC-3120D2FAE3DA}" presName="compNode" presStyleCnt="0"/>
      <dgm:spPr/>
    </dgm:pt>
    <dgm:pt modelId="{D91C4601-80D6-4C75-9B70-1D224FCFC8E7}" type="pres">
      <dgm:prSet presAssocID="{C5359A0D-7AB4-415C-B8FC-3120D2FAE3DA}" presName="iconBgRect" presStyleLbl="bgShp" presStyleIdx="2" presStyleCnt="4"/>
      <dgm:spPr/>
    </dgm:pt>
    <dgm:pt modelId="{5C45998A-7C75-49D8-AB59-7B8C95297498}" type="pres">
      <dgm:prSet presAssocID="{C5359A0D-7AB4-415C-B8FC-3120D2FAE3D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闪电"/>
        </a:ext>
      </dgm:extLst>
    </dgm:pt>
    <dgm:pt modelId="{A27D2D1B-F7CE-4D12-9337-33C62B549F2F}" type="pres">
      <dgm:prSet presAssocID="{C5359A0D-7AB4-415C-B8FC-3120D2FAE3DA}" presName="spaceRect" presStyleCnt="0"/>
      <dgm:spPr/>
    </dgm:pt>
    <dgm:pt modelId="{BB426914-D034-4845-846D-1E4BF71E48DF}" type="pres">
      <dgm:prSet presAssocID="{C5359A0D-7AB4-415C-B8FC-3120D2FAE3DA}" presName="textRect" presStyleLbl="revTx" presStyleIdx="2" presStyleCnt="4">
        <dgm:presLayoutVars>
          <dgm:chMax val="1"/>
          <dgm:chPref val="1"/>
        </dgm:presLayoutVars>
      </dgm:prSet>
      <dgm:spPr/>
    </dgm:pt>
    <dgm:pt modelId="{847876CE-0762-41D5-8E85-5E6E81A37A79}" type="pres">
      <dgm:prSet presAssocID="{75838A8C-8D33-40D7-B758-19DB7B43AC24}" presName="sibTrans" presStyleCnt="0"/>
      <dgm:spPr/>
    </dgm:pt>
    <dgm:pt modelId="{6274DEA6-CBC5-41F2-B91F-C55137E181F1}" type="pres">
      <dgm:prSet presAssocID="{0713E90A-29E4-42DD-B5A0-47E870164B99}" presName="compNode" presStyleCnt="0"/>
      <dgm:spPr/>
    </dgm:pt>
    <dgm:pt modelId="{D3451BBB-23C3-4C9A-ADA9-B107BCE13916}" type="pres">
      <dgm:prSet presAssocID="{0713E90A-29E4-42DD-B5A0-47E870164B99}" presName="iconBgRect" presStyleLbl="bgShp" presStyleIdx="3" presStyleCnt="4"/>
      <dgm:spPr/>
    </dgm:pt>
    <dgm:pt modelId="{BD92EA54-8E3E-48FD-951A-46EAB9E80B37}" type="pres">
      <dgm:prSet presAssocID="{0713E90A-29E4-42DD-B5A0-47E870164B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消防员"/>
        </a:ext>
      </dgm:extLst>
    </dgm:pt>
    <dgm:pt modelId="{DB75A31C-5EC5-4408-98D4-5043B70FC873}" type="pres">
      <dgm:prSet presAssocID="{0713E90A-29E4-42DD-B5A0-47E870164B99}" presName="spaceRect" presStyleCnt="0"/>
      <dgm:spPr/>
    </dgm:pt>
    <dgm:pt modelId="{06C4383F-13C3-4D6E-8243-E178B08C75B7}" type="pres">
      <dgm:prSet presAssocID="{0713E90A-29E4-42DD-B5A0-47E870164B9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E9ABB3D-80BA-4A2B-B4B9-E4D21D2AA066}" type="presOf" srcId="{C5359A0D-7AB4-415C-B8FC-3120D2FAE3DA}" destId="{BB426914-D034-4845-846D-1E4BF71E48DF}" srcOrd="0" destOrd="0" presId="urn:microsoft.com/office/officeart/2018/5/layout/IconCircleLabelList"/>
    <dgm:cxn modelId="{C0D21B68-F3B4-45C2-B3AF-8B40127F9877}" type="presOf" srcId="{DE03E002-FD5A-4541-BFD6-BD095DCDAA8A}" destId="{A160CC31-D510-451F-8006-F9F245EFD9E0}" srcOrd="0" destOrd="0" presId="urn:microsoft.com/office/officeart/2018/5/layout/IconCircleLabelList"/>
    <dgm:cxn modelId="{C494D26E-FA29-40C0-A9BD-5BA714673AA2}" srcId="{8ADC1DBC-4DFF-4D8D-ACFF-1B4517E98BA8}" destId="{F03C5B57-B8DE-4D54-A970-F33E668CACD3}" srcOrd="1" destOrd="0" parTransId="{AF3DD9B4-CEA8-4DD4-B879-55A1F848168D}" sibTransId="{E5057337-F4DA-4A43-A1F4-A83C4242F0B8}"/>
    <dgm:cxn modelId="{F718C082-32BD-4A20-A66D-FB97794FCF86}" type="presOf" srcId="{F03C5B57-B8DE-4D54-A970-F33E668CACD3}" destId="{2C5DB2B3-5AC8-4F55-90DE-E347EA612FCA}" srcOrd="0" destOrd="0" presId="urn:microsoft.com/office/officeart/2018/5/layout/IconCircleLabelList"/>
    <dgm:cxn modelId="{1BACA2A3-585B-4770-892F-D3291829E71B}" type="presOf" srcId="{0713E90A-29E4-42DD-B5A0-47E870164B99}" destId="{06C4383F-13C3-4D6E-8243-E178B08C75B7}" srcOrd="0" destOrd="0" presId="urn:microsoft.com/office/officeart/2018/5/layout/IconCircleLabelList"/>
    <dgm:cxn modelId="{B0295BB8-C88C-4020-8FEF-B0D10028DF59}" type="presOf" srcId="{8ADC1DBC-4DFF-4D8D-ACFF-1B4517E98BA8}" destId="{71577AFC-1332-4CF2-B700-1940A596A1EE}" srcOrd="0" destOrd="0" presId="urn:microsoft.com/office/officeart/2018/5/layout/IconCircleLabelList"/>
    <dgm:cxn modelId="{B23358BF-C2CE-4D81-BF9B-A136F06BD37A}" srcId="{8ADC1DBC-4DFF-4D8D-ACFF-1B4517E98BA8}" destId="{DE03E002-FD5A-4541-BFD6-BD095DCDAA8A}" srcOrd="0" destOrd="0" parTransId="{2ACCFE78-70EC-4243-924C-B143A5852C54}" sibTransId="{D49C1A97-FE69-46C9-B0CB-DEDFD6D3F0E7}"/>
    <dgm:cxn modelId="{482DEAC7-4145-4C5F-914E-C17652214439}" srcId="{8ADC1DBC-4DFF-4D8D-ACFF-1B4517E98BA8}" destId="{0713E90A-29E4-42DD-B5A0-47E870164B99}" srcOrd="3" destOrd="0" parTransId="{CEEAECCC-8FAA-47A2-BF68-E3DF3DAFE57B}" sibTransId="{4F353CC9-B645-457B-8CEE-936DB2D39254}"/>
    <dgm:cxn modelId="{6C583CED-BAD3-4BFF-B087-32C30A4730CB}" srcId="{8ADC1DBC-4DFF-4D8D-ACFF-1B4517E98BA8}" destId="{C5359A0D-7AB4-415C-B8FC-3120D2FAE3DA}" srcOrd="2" destOrd="0" parTransId="{9AB6F898-F36C-41F4-B381-F42531DFFA38}" sibTransId="{75838A8C-8D33-40D7-B758-19DB7B43AC24}"/>
    <dgm:cxn modelId="{1DD1B745-7C4E-4A4C-A381-B7602BB22290}" type="presParOf" srcId="{71577AFC-1332-4CF2-B700-1940A596A1EE}" destId="{A0EBCA0D-86C4-46BC-BEC3-E58F6C0DACDB}" srcOrd="0" destOrd="0" presId="urn:microsoft.com/office/officeart/2018/5/layout/IconCircleLabelList"/>
    <dgm:cxn modelId="{96FFB30A-345E-42BD-8811-95D30A237107}" type="presParOf" srcId="{A0EBCA0D-86C4-46BC-BEC3-E58F6C0DACDB}" destId="{2EF17CB8-170E-44F1-94A9-C7C309BC83C8}" srcOrd="0" destOrd="0" presId="urn:microsoft.com/office/officeart/2018/5/layout/IconCircleLabelList"/>
    <dgm:cxn modelId="{EB1052E9-EC53-4F46-A3CA-2312360DF054}" type="presParOf" srcId="{A0EBCA0D-86C4-46BC-BEC3-E58F6C0DACDB}" destId="{578402BE-8003-4774-BED9-518485A45900}" srcOrd="1" destOrd="0" presId="urn:microsoft.com/office/officeart/2018/5/layout/IconCircleLabelList"/>
    <dgm:cxn modelId="{C35E2E86-31F2-4795-9A74-B1D4B3D50DFD}" type="presParOf" srcId="{A0EBCA0D-86C4-46BC-BEC3-E58F6C0DACDB}" destId="{DB7CC1D6-AFC8-46C2-9F46-4D07FB5D12E6}" srcOrd="2" destOrd="0" presId="urn:microsoft.com/office/officeart/2018/5/layout/IconCircleLabelList"/>
    <dgm:cxn modelId="{57F7790B-1170-4C12-989D-9B0B3F5948C7}" type="presParOf" srcId="{A0EBCA0D-86C4-46BC-BEC3-E58F6C0DACDB}" destId="{A160CC31-D510-451F-8006-F9F245EFD9E0}" srcOrd="3" destOrd="0" presId="urn:microsoft.com/office/officeart/2018/5/layout/IconCircleLabelList"/>
    <dgm:cxn modelId="{13567D9F-BC80-4FE5-B02F-12EC6814CA2B}" type="presParOf" srcId="{71577AFC-1332-4CF2-B700-1940A596A1EE}" destId="{65EA5BF4-D1F7-4B1D-A45D-ADB1D53F7C5B}" srcOrd="1" destOrd="0" presId="urn:microsoft.com/office/officeart/2018/5/layout/IconCircleLabelList"/>
    <dgm:cxn modelId="{910FD867-E118-4E2F-8CF7-CF9191951505}" type="presParOf" srcId="{71577AFC-1332-4CF2-B700-1940A596A1EE}" destId="{AAF0944D-F29E-42F3-A0A5-E117750D4C76}" srcOrd="2" destOrd="0" presId="urn:microsoft.com/office/officeart/2018/5/layout/IconCircleLabelList"/>
    <dgm:cxn modelId="{174A1D64-F53C-4784-8657-8ED913B154F5}" type="presParOf" srcId="{AAF0944D-F29E-42F3-A0A5-E117750D4C76}" destId="{BEDCED29-169F-4DD8-9828-53DE17E87DFF}" srcOrd="0" destOrd="0" presId="urn:microsoft.com/office/officeart/2018/5/layout/IconCircleLabelList"/>
    <dgm:cxn modelId="{075A7A5D-D500-4122-AF1F-A7C9B3F44F2A}" type="presParOf" srcId="{AAF0944D-F29E-42F3-A0A5-E117750D4C76}" destId="{5E036281-9EF0-4987-909D-84F33FC04685}" srcOrd="1" destOrd="0" presId="urn:microsoft.com/office/officeart/2018/5/layout/IconCircleLabelList"/>
    <dgm:cxn modelId="{8E1D5DE9-DE1E-4FF3-A543-F79850862B63}" type="presParOf" srcId="{AAF0944D-F29E-42F3-A0A5-E117750D4C76}" destId="{32CCECFB-98F7-4B5B-A098-44C4B8CCE1C4}" srcOrd="2" destOrd="0" presId="urn:microsoft.com/office/officeart/2018/5/layout/IconCircleLabelList"/>
    <dgm:cxn modelId="{DCBC2A9D-414D-49A6-B0BE-27E63669B2BB}" type="presParOf" srcId="{AAF0944D-F29E-42F3-A0A5-E117750D4C76}" destId="{2C5DB2B3-5AC8-4F55-90DE-E347EA612FCA}" srcOrd="3" destOrd="0" presId="urn:microsoft.com/office/officeart/2018/5/layout/IconCircleLabelList"/>
    <dgm:cxn modelId="{5C97F840-E6D6-42F6-A59B-58329B134920}" type="presParOf" srcId="{71577AFC-1332-4CF2-B700-1940A596A1EE}" destId="{C10DE5E8-B99D-49E9-B4E8-C49CE0477300}" srcOrd="3" destOrd="0" presId="urn:microsoft.com/office/officeart/2018/5/layout/IconCircleLabelList"/>
    <dgm:cxn modelId="{3CB4BB47-EFF8-4C1B-A899-20319C20217E}" type="presParOf" srcId="{71577AFC-1332-4CF2-B700-1940A596A1EE}" destId="{42A83344-1CE3-49B6-8036-6FD221705AC0}" srcOrd="4" destOrd="0" presId="urn:microsoft.com/office/officeart/2018/5/layout/IconCircleLabelList"/>
    <dgm:cxn modelId="{17C5BD4F-0FE8-4E66-9806-03E390D6BDAE}" type="presParOf" srcId="{42A83344-1CE3-49B6-8036-6FD221705AC0}" destId="{D91C4601-80D6-4C75-9B70-1D224FCFC8E7}" srcOrd="0" destOrd="0" presId="urn:microsoft.com/office/officeart/2018/5/layout/IconCircleLabelList"/>
    <dgm:cxn modelId="{43AFDF9F-E3A5-420D-A439-16EAA676F2E5}" type="presParOf" srcId="{42A83344-1CE3-49B6-8036-6FD221705AC0}" destId="{5C45998A-7C75-49D8-AB59-7B8C95297498}" srcOrd="1" destOrd="0" presId="urn:microsoft.com/office/officeart/2018/5/layout/IconCircleLabelList"/>
    <dgm:cxn modelId="{7437B87B-6033-41AE-81CF-B9BF729821C5}" type="presParOf" srcId="{42A83344-1CE3-49B6-8036-6FD221705AC0}" destId="{A27D2D1B-F7CE-4D12-9337-33C62B549F2F}" srcOrd="2" destOrd="0" presId="urn:microsoft.com/office/officeart/2018/5/layout/IconCircleLabelList"/>
    <dgm:cxn modelId="{1E88FC49-E324-4517-B3A7-B4162C3726A9}" type="presParOf" srcId="{42A83344-1CE3-49B6-8036-6FD221705AC0}" destId="{BB426914-D034-4845-846D-1E4BF71E48DF}" srcOrd="3" destOrd="0" presId="urn:microsoft.com/office/officeart/2018/5/layout/IconCircleLabelList"/>
    <dgm:cxn modelId="{16798D65-2720-46D2-9DD1-58E994AF793F}" type="presParOf" srcId="{71577AFC-1332-4CF2-B700-1940A596A1EE}" destId="{847876CE-0762-41D5-8E85-5E6E81A37A79}" srcOrd="5" destOrd="0" presId="urn:microsoft.com/office/officeart/2018/5/layout/IconCircleLabelList"/>
    <dgm:cxn modelId="{DCAD23A4-EDCF-4AF2-96D1-F910E53A6525}" type="presParOf" srcId="{71577AFC-1332-4CF2-B700-1940A596A1EE}" destId="{6274DEA6-CBC5-41F2-B91F-C55137E181F1}" srcOrd="6" destOrd="0" presId="urn:microsoft.com/office/officeart/2018/5/layout/IconCircleLabelList"/>
    <dgm:cxn modelId="{496B9207-7CE5-4FB8-8188-9807ED6EE6B0}" type="presParOf" srcId="{6274DEA6-CBC5-41F2-B91F-C55137E181F1}" destId="{D3451BBB-23C3-4C9A-ADA9-B107BCE13916}" srcOrd="0" destOrd="0" presId="urn:microsoft.com/office/officeart/2018/5/layout/IconCircleLabelList"/>
    <dgm:cxn modelId="{D98DD561-DFB4-4B05-9DE7-31D4ACD9563B}" type="presParOf" srcId="{6274DEA6-CBC5-41F2-B91F-C55137E181F1}" destId="{BD92EA54-8E3E-48FD-951A-46EAB9E80B37}" srcOrd="1" destOrd="0" presId="urn:microsoft.com/office/officeart/2018/5/layout/IconCircleLabelList"/>
    <dgm:cxn modelId="{D50399B4-AB39-42C5-B62E-47EFBB23F5F9}" type="presParOf" srcId="{6274DEA6-CBC5-41F2-B91F-C55137E181F1}" destId="{DB75A31C-5EC5-4408-98D4-5043B70FC873}" srcOrd="2" destOrd="0" presId="urn:microsoft.com/office/officeart/2018/5/layout/IconCircleLabelList"/>
    <dgm:cxn modelId="{FD91E63D-39EC-45BC-9E0C-2E8EFE40E6BD}" type="presParOf" srcId="{6274DEA6-CBC5-41F2-B91F-C55137E181F1}" destId="{06C4383F-13C3-4D6E-8243-E178B08C75B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D33DA0-5793-4631-B88C-38E2CC421ABC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BF6066E-D060-4A3D-BAC9-FD50E5082D27}">
      <dgm:prSet/>
      <dgm:spPr/>
      <dgm:t>
        <a:bodyPr/>
        <a:lstStyle/>
        <a:p>
          <a:r>
            <a:rPr lang="en-US" b="1" dirty="0"/>
            <a:t>Data Coverage: </a:t>
          </a:r>
        </a:p>
        <a:p>
          <a:r>
            <a:rPr lang="en-US" dirty="0"/>
            <a:t>23 outage events identified; 44% show NTL decrease during outages (excluding high-snow events).</a:t>
          </a:r>
        </a:p>
      </dgm:t>
    </dgm:pt>
    <dgm:pt modelId="{1ED1525D-E0A1-480C-81A2-8A0DC32E3015}" type="parTrans" cxnId="{995DDCD3-B2E8-422E-AE2B-C62869B26F28}">
      <dgm:prSet/>
      <dgm:spPr/>
      <dgm:t>
        <a:bodyPr/>
        <a:lstStyle/>
        <a:p>
          <a:endParaRPr lang="en-US"/>
        </a:p>
      </dgm:t>
    </dgm:pt>
    <dgm:pt modelId="{F82FBD54-21DD-4AD2-97A2-3EA96A6DAB9C}" type="sibTrans" cxnId="{995DDCD3-B2E8-422E-AE2B-C62869B26F28}">
      <dgm:prSet/>
      <dgm:spPr/>
      <dgm:t>
        <a:bodyPr/>
        <a:lstStyle/>
        <a:p>
          <a:endParaRPr lang="en-US"/>
        </a:p>
      </dgm:t>
    </dgm:pt>
    <dgm:pt modelId="{CD1D4ECD-870E-4AA2-9E0E-5E577248744E}">
      <dgm:prSet/>
      <dgm:spPr/>
      <dgm:t>
        <a:bodyPr/>
        <a:lstStyle/>
        <a:p>
          <a:r>
            <a:rPr lang="en-US" b="1" dirty="0"/>
            <a:t>Buffer Analysis: </a:t>
          </a:r>
        </a:p>
        <a:p>
          <a:r>
            <a:rPr lang="en-US" dirty="0"/>
            <a:t>500m buffer around critical facilities shows slightly higher NTL resilience than surrounding areas.</a:t>
          </a:r>
        </a:p>
      </dgm:t>
    </dgm:pt>
    <dgm:pt modelId="{9FE43746-B1A0-423B-BB73-C4EF68F0FFE7}" type="parTrans" cxnId="{584E8F75-1475-4D02-908B-B5C1687176AB}">
      <dgm:prSet/>
      <dgm:spPr/>
      <dgm:t>
        <a:bodyPr/>
        <a:lstStyle/>
        <a:p>
          <a:endParaRPr lang="en-US"/>
        </a:p>
      </dgm:t>
    </dgm:pt>
    <dgm:pt modelId="{D440B768-78C3-4AC5-A83F-50434C34C9B0}" type="sibTrans" cxnId="{584E8F75-1475-4D02-908B-B5C1687176AB}">
      <dgm:prSet/>
      <dgm:spPr/>
      <dgm:t>
        <a:bodyPr/>
        <a:lstStyle/>
        <a:p>
          <a:endParaRPr lang="en-US"/>
        </a:p>
      </dgm:t>
    </dgm:pt>
    <dgm:pt modelId="{0406AE48-46AB-4B43-8424-A30F3EE4A61B}">
      <dgm:prSet/>
      <dgm:spPr/>
      <dgm:t>
        <a:bodyPr/>
        <a:lstStyle/>
        <a:p>
          <a:r>
            <a:rPr lang="en-US" b="1" dirty="0"/>
            <a:t>Signal Limitation:</a:t>
          </a:r>
        </a:p>
        <a:p>
          <a:r>
            <a:rPr lang="en-US" dirty="0"/>
            <a:t> 500m spatial resolution constrains individual facility-level detection; statistical approaches required.</a:t>
          </a:r>
        </a:p>
      </dgm:t>
    </dgm:pt>
    <dgm:pt modelId="{3B12F3C2-7026-4E01-B709-26EBEC644AFE}" type="parTrans" cxnId="{B6C0E5EC-B0BF-4F01-AA51-58240207B960}">
      <dgm:prSet/>
      <dgm:spPr/>
      <dgm:t>
        <a:bodyPr/>
        <a:lstStyle/>
        <a:p>
          <a:endParaRPr lang="en-US"/>
        </a:p>
      </dgm:t>
    </dgm:pt>
    <dgm:pt modelId="{92CEEBF7-BDA0-4D51-9955-7DA66399F314}" type="sibTrans" cxnId="{B6C0E5EC-B0BF-4F01-AA51-58240207B960}">
      <dgm:prSet/>
      <dgm:spPr/>
      <dgm:t>
        <a:bodyPr/>
        <a:lstStyle/>
        <a:p>
          <a:endParaRPr lang="en-US"/>
        </a:p>
      </dgm:t>
    </dgm:pt>
    <dgm:pt modelId="{D31C56C5-01C4-4A9C-AA7E-C877E298B924}">
      <dgm:prSet/>
      <dgm:spPr/>
      <dgm:t>
        <a:bodyPr/>
        <a:lstStyle/>
        <a:p>
          <a:r>
            <a:rPr lang="en-US" b="1" dirty="0"/>
            <a:t>Next Steps: </a:t>
          </a:r>
        </a:p>
        <a:p>
          <a:r>
            <a:rPr lang="en-US" dirty="0"/>
            <a:t>Pixel-level anomaly detection methods and validation against permit-based ground truth data.</a:t>
          </a:r>
        </a:p>
      </dgm:t>
    </dgm:pt>
    <dgm:pt modelId="{494095A3-1E2F-4A5B-B69C-99D48CB6EE6D}" type="parTrans" cxnId="{BA8CFC37-4108-4DE7-92D9-337E45898087}">
      <dgm:prSet/>
      <dgm:spPr/>
      <dgm:t>
        <a:bodyPr/>
        <a:lstStyle/>
        <a:p>
          <a:endParaRPr lang="en-US"/>
        </a:p>
      </dgm:t>
    </dgm:pt>
    <dgm:pt modelId="{DFE20BA0-37EC-4732-8C11-F1A58D291089}" type="sibTrans" cxnId="{BA8CFC37-4108-4DE7-92D9-337E45898087}">
      <dgm:prSet/>
      <dgm:spPr/>
      <dgm:t>
        <a:bodyPr/>
        <a:lstStyle/>
        <a:p>
          <a:endParaRPr lang="en-US"/>
        </a:p>
      </dgm:t>
    </dgm:pt>
    <dgm:pt modelId="{3D4C879A-4A20-3C4D-8748-F7948E5B90DF}" type="pres">
      <dgm:prSet presAssocID="{62D33DA0-5793-4631-B88C-38E2CC421ABC}" presName="diagram" presStyleCnt="0">
        <dgm:presLayoutVars>
          <dgm:dir/>
          <dgm:resizeHandles val="exact"/>
        </dgm:presLayoutVars>
      </dgm:prSet>
      <dgm:spPr/>
    </dgm:pt>
    <dgm:pt modelId="{6E1A65AA-D224-FC48-ADD5-6D88DF46FA05}" type="pres">
      <dgm:prSet presAssocID="{DBF6066E-D060-4A3D-BAC9-FD50E5082D27}" presName="node" presStyleLbl="node1" presStyleIdx="0" presStyleCnt="4">
        <dgm:presLayoutVars>
          <dgm:bulletEnabled val="1"/>
        </dgm:presLayoutVars>
      </dgm:prSet>
      <dgm:spPr/>
    </dgm:pt>
    <dgm:pt modelId="{DD3BD4C4-E0B9-6A48-9BFE-31B0DE4D29B5}" type="pres">
      <dgm:prSet presAssocID="{F82FBD54-21DD-4AD2-97A2-3EA96A6DAB9C}" presName="sibTrans" presStyleCnt="0"/>
      <dgm:spPr/>
    </dgm:pt>
    <dgm:pt modelId="{5C3EDF4E-20CC-3443-8EC4-6D550F47434E}" type="pres">
      <dgm:prSet presAssocID="{CD1D4ECD-870E-4AA2-9E0E-5E577248744E}" presName="node" presStyleLbl="node1" presStyleIdx="1" presStyleCnt="4">
        <dgm:presLayoutVars>
          <dgm:bulletEnabled val="1"/>
        </dgm:presLayoutVars>
      </dgm:prSet>
      <dgm:spPr/>
    </dgm:pt>
    <dgm:pt modelId="{81910E4B-CD60-ED48-B855-6A5DDF987FC4}" type="pres">
      <dgm:prSet presAssocID="{D440B768-78C3-4AC5-A83F-50434C34C9B0}" presName="sibTrans" presStyleCnt="0"/>
      <dgm:spPr/>
    </dgm:pt>
    <dgm:pt modelId="{B67BAC48-571C-6F45-A491-48E2399D3645}" type="pres">
      <dgm:prSet presAssocID="{0406AE48-46AB-4B43-8424-A30F3EE4A61B}" presName="node" presStyleLbl="node1" presStyleIdx="2" presStyleCnt="4">
        <dgm:presLayoutVars>
          <dgm:bulletEnabled val="1"/>
        </dgm:presLayoutVars>
      </dgm:prSet>
      <dgm:spPr/>
    </dgm:pt>
    <dgm:pt modelId="{0E80E41F-F601-9147-BB19-1E9A684C270F}" type="pres">
      <dgm:prSet presAssocID="{92CEEBF7-BDA0-4D51-9955-7DA66399F314}" presName="sibTrans" presStyleCnt="0"/>
      <dgm:spPr/>
    </dgm:pt>
    <dgm:pt modelId="{273FD928-EF8B-FA4E-A102-7CA9D41E38B2}" type="pres">
      <dgm:prSet presAssocID="{D31C56C5-01C4-4A9C-AA7E-C877E298B924}" presName="node" presStyleLbl="node1" presStyleIdx="3" presStyleCnt="4">
        <dgm:presLayoutVars>
          <dgm:bulletEnabled val="1"/>
        </dgm:presLayoutVars>
      </dgm:prSet>
      <dgm:spPr/>
    </dgm:pt>
  </dgm:ptLst>
  <dgm:cxnLst>
    <dgm:cxn modelId="{2F0CB316-B234-CE44-9DA3-45B23D9BEDB3}" type="presOf" srcId="{D31C56C5-01C4-4A9C-AA7E-C877E298B924}" destId="{273FD928-EF8B-FA4E-A102-7CA9D41E38B2}" srcOrd="0" destOrd="0" presId="urn:microsoft.com/office/officeart/2005/8/layout/default"/>
    <dgm:cxn modelId="{E65A0232-14B5-9847-851F-1FA95444DC77}" type="presOf" srcId="{CD1D4ECD-870E-4AA2-9E0E-5E577248744E}" destId="{5C3EDF4E-20CC-3443-8EC4-6D550F47434E}" srcOrd="0" destOrd="0" presId="urn:microsoft.com/office/officeart/2005/8/layout/default"/>
    <dgm:cxn modelId="{BA8CFC37-4108-4DE7-92D9-337E45898087}" srcId="{62D33DA0-5793-4631-B88C-38E2CC421ABC}" destId="{D31C56C5-01C4-4A9C-AA7E-C877E298B924}" srcOrd="3" destOrd="0" parTransId="{494095A3-1E2F-4A5B-B69C-99D48CB6EE6D}" sibTransId="{DFE20BA0-37EC-4732-8C11-F1A58D291089}"/>
    <dgm:cxn modelId="{584E8F75-1475-4D02-908B-B5C1687176AB}" srcId="{62D33DA0-5793-4631-B88C-38E2CC421ABC}" destId="{CD1D4ECD-870E-4AA2-9E0E-5E577248744E}" srcOrd="1" destOrd="0" parTransId="{9FE43746-B1A0-423B-BB73-C4EF68F0FFE7}" sibTransId="{D440B768-78C3-4AC5-A83F-50434C34C9B0}"/>
    <dgm:cxn modelId="{6E4A769C-F4C2-B24E-B95E-6A04A65C71BF}" type="presOf" srcId="{DBF6066E-D060-4A3D-BAC9-FD50E5082D27}" destId="{6E1A65AA-D224-FC48-ADD5-6D88DF46FA05}" srcOrd="0" destOrd="0" presId="urn:microsoft.com/office/officeart/2005/8/layout/default"/>
    <dgm:cxn modelId="{200C62A8-EF39-7E4E-B772-A349513109D0}" type="presOf" srcId="{0406AE48-46AB-4B43-8424-A30F3EE4A61B}" destId="{B67BAC48-571C-6F45-A491-48E2399D3645}" srcOrd="0" destOrd="0" presId="urn:microsoft.com/office/officeart/2005/8/layout/default"/>
    <dgm:cxn modelId="{01EA33C2-850B-3548-BA00-0FEE516ACB25}" type="presOf" srcId="{62D33DA0-5793-4631-B88C-38E2CC421ABC}" destId="{3D4C879A-4A20-3C4D-8748-F7948E5B90DF}" srcOrd="0" destOrd="0" presId="urn:microsoft.com/office/officeart/2005/8/layout/default"/>
    <dgm:cxn modelId="{995DDCD3-B2E8-422E-AE2B-C62869B26F28}" srcId="{62D33DA0-5793-4631-B88C-38E2CC421ABC}" destId="{DBF6066E-D060-4A3D-BAC9-FD50E5082D27}" srcOrd="0" destOrd="0" parTransId="{1ED1525D-E0A1-480C-81A2-8A0DC32E3015}" sibTransId="{F82FBD54-21DD-4AD2-97A2-3EA96A6DAB9C}"/>
    <dgm:cxn modelId="{B6C0E5EC-B0BF-4F01-AA51-58240207B960}" srcId="{62D33DA0-5793-4631-B88C-38E2CC421ABC}" destId="{0406AE48-46AB-4B43-8424-A30F3EE4A61B}" srcOrd="2" destOrd="0" parTransId="{3B12F3C2-7026-4E01-B709-26EBEC644AFE}" sibTransId="{92CEEBF7-BDA0-4D51-9955-7DA66399F314}"/>
    <dgm:cxn modelId="{C5A2AB71-5383-D04C-8C97-11616E4C4A18}" type="presParOf" srcId="{3D4C879A-4A20-3C4D-8748-F7948E5B90DF}" destId="{6E1A65AA-D224-FC48-ADD5-6D88DF46FA05}" srcOrd="0" destOrd="0" presId="urn:microsoft.com/office/officeart/2005/8/layout/default"/>
    <dgm:cxn modelId="{84991748-3438-A843-899B-874D65874510}" type="presParOf" srcId="{3D4C879A-4A20-3C4D-8748-F7948E5B90DF}" destId="{DD3BD4C4-E0B9-6A48-9BFE-31B0DE4D29B5}" srcOrd="1" destOrd="0" presId="urn:microsoft.com/office/officeart/2005/8/layout/default"/>
    <dgm:cxn modelId="{F4B74554-E692-264A-850B-25252A270075}" type="presParOf" srcId="{3D4C879A-4A20-3C4D-8748-F7948E5B90DF}" destId="{5C3EDF4E-20CC-3443-8EC4-6D550F47434E}" srcOrd="2" destOrd="0" presId="urn:microsoft.com/office/officeart/2005/8/layout/default"/>
    <dgm:cxn modelId="{4B780896-8A8E-B747-B9A5-0C6D89722A9F}" type="presParOf" srcId="{3D4C879A-4A20-3C4D-8748-F7948E5B90DF}" destId="{81910E4B-CD60-ED48-B855-6A5DDF987FC4}" srcOrd="3" destOrd="0" presId="urn:microsoft.com/office/officeart/2005/8/layout/default"/>
    <dgm:cxn modelId="{6AF63D09-08C6-2049-A07F-58549B3AD11C}" type="presParOf" srcId="{3D4C879A-4A20-3C4D-8748-F7948E5B90DF}" destId="{B67BAC48-571C-6F45-A491-48E2399D3645}" srcOrd="4" destOrd="0" presId="urn:microsoft.com/office/officeart/2005/8/layout/default"/>
    <dgm:cxn modelId="{B0E13EDD-EBF8-514F-A019-1B4B4B754FF5}" type="presParOf" srcId="{3D4C879A-4A20-3C4D-8748-F7948E5B90DF}" destId="{0E80E41F-F601-9147-BB19-1E9A684C270F}" srcOrd="5" destOrd="0" presId="urn:microsoft.com/office/officeart/2005/8/layout/default"/>
    <dgm:cxn modelId="{5969B7EF-2FE8-9E4E-AEE2-6123349B315A}" type="presParOf" srcId="{3D4C879A-4A20-3C4D-8748-F7948E5B90DF}" destId="{273FD928-EF8B-FA4E-A102-7CA9D41E38B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E9C0F-12B2-6C4C-9AC1-BD58D986D1E4}">
      <dsp:nvSpPr>
        <dsp:cNvPr id="0" name=""/>
        <dsp:cNvSpPr/>
      </dsp:nvSpPr>
      <dsp:spPr>
        <a:xfrm>
          <a:off x="0" y="97412"/>
          <a:ext cx="10924983" cy="7558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Global electrification expansion is central to sustainable development, yet grid vulnerability persists in extreme weather events.</a:t>
          </a:r>
        </a:p>
      </dsp:txBody>
      <dsp:txXfrm>
        <a:off x="36896" y="134308"/>
        <a:ext cx="10851191" cy="682028"/>
      </dsp:txXfrm>
    </dsp:sp>
    <dsp:sp modelId="{87C9038E-F4E8-4D46-8B3F-2CCE09405F3D}">
      <dsp:nvSpPr>
        <dsp:cNvPr id="0" name=""/>
        <dsp:cNvSpPr/>
      </dsp:nvSpPr>
      <dsp:spPr>
        <a:xfrm>
          <a:off x="0" y="907952"/>
          <a:ext cx="10924983" cy="75582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Power outages during natural disasters disproportionately impact critical infrastructure and vulnerable populations.</a:t>
          </a:r>
        </a:p>
      </dsp:txBody>
      <dsp:txXfrm>
        <a:off x="36896" y="944848"/>
        <a:ext cx="10851191" cy="682028"/>
      </dsp:txXfrm>
    </dsp:sp>
    <dsp:sp modelId="{C93B3D52-6FB4-DC4D-9761-C5327912190E}">
      <dsp:nvSpPr>
        <dsp:cNvPr id="0" name=""/>
        <dsp:cNvSpPr/>
      </dsp:nvSpPr>
      <dsp:spPr>
        <a:xfrm>
          <a:off x="0" y="1718492"/>
          <a:ext cx="10924983" cy="755820"/>
        </a:xfrm>
        <a:prstGeom prst="roundRect">
          <a:avLst/>
        </a:prstGeom>
        <a:solidFill>
          <a:schemeClr val="accent2">
            <a:hueOff val="2340760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Backup generators serve as essential resilience infrastructure, yet their deployment and operational patterns remain largely unquantified.</a:t>
          </a:r>
        </a:p>
      </dsp:txBody>
      <dsp:txXfrm>
        <a:off x="36896" y="1755388"/>
        <a:ext cx="10851191" cy="682028"/>
      </dsp:txXfrm>
    </dsp:sp>
    <dsp:sp modelId="{C59D1386-A377-2349-A621-9EFB0DE00BF4}">
      <dsp:nvSpPr>
        <dsp:cNvPr id="0" name=""/>
        <dsp:cNvSpPr/>
      </dsp:nvSpPr>
      <dsp:spPr>
        <a:xfrm>
          <a:off x="0" y="2529032"/>
          <a:ext cx="10924983" cy="755820"/>
        </a:xfrm>
        <a:prstGeom prst="roundRect">
          <a:avLst/>
        </a:prstGeom>
        <a:solidFill>
          <a:schemeClr val="accent2">
            <a:hueOff val="3511140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Diesel-powered generators contribute to localized air pollution emissions, raising environmental justice and public health concerns.</a:t>
          </a:r>
        </a:p>
      </dsp:txBody>
      <dsp:txXfrm>
        <a:off x="36896" y="2565928"/>
        <a:ext cx="10851191" cy="682028"/>
      </dsp:txXfrm>
    </dsp:sp>
    <dsp:sp modelId="{0D7E5F91-001C-DB4D-97F2-137D3337C1B7}">
      <dsp:nvSpPr>
        <dsp:cNvPr id="0" name=""/>
        <dsp:cNvSpPr/>
      </dsp:nvSpPr>
      <dsp:spPr>
        <a:xfrm>
          <a:off x="0" y="3339572"/>
          <a:ext cx="10924983" cy="75582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critical research gap: systematic methods for detecting and quantifying backup generator usage at scale are lacking.</a:t>
          </a:r>
        </a:p>
      </dsp:txBody>
      <dsp:txXfrm>
        <a:off x="36896" y="3376468"/>
        <a:ext cx="10851191" cy="6820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ED6040-11D4-47A9-90CD-6112B22F9886}">
      <dsp:nvSpPr>
        <dsp:cNvPr id="0" name=""/>
        <dsp:cNvSpPr/>
      </dsp:nvSpPr>
      <dsp:spPr>
        <a:xfrm>
          <a:off x="946401" y="582143"/>
          <a:ext cx="1451600" cy="14516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D268DD-20AE-425A-A6F5-D4B799EF08AA}">
      <dsp:nvSpPr>
        <dsp:cNvPr id="0" name=""/>
        <dsp:cNvSpPr/>
      </dsp:nvSpPr>
      <dsp:spPr>
        <a:xfrm>
          <a:off x="59312" y="2488474"/>
          <a:ext cx="3225778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Develop an indirect method to identify backup generator usage during power outages.</a:t>
          </a:r>
        </a:p>
      </dsp:txBody>
      <dsp:txXfrm>
        <a:off x="59312" y="2488474"/>
        <a:ext cx="3225778" cy="1122187"/>
      </dsp:txXfrm>
    </dsp:sp>
    <dsp:sp modelId="{88288784-44CA-471C-8C67-62FB812E1BD4}">
      <dsp:nvSpPr>
        <dsp:cNvPr id="0" name=""/>
        <dsp:cNvSpPr/>
      </dsp:nvSpPr>
      <dsp:spPr>
        <a:xfrm>
          <a:off x="4736691" y="582143"/>
          <a:ext cx="1451600" cy="14516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58E342-E324-427E-A8A3-CC8C5F08BEF9}">
      <dsp:nvSpPr>
        <dsp:cNvPr id="0" name=""/>
        <dsp:cNvSpPr/>
      </dsp:nvSpPr>
      <dsp:spPr>
        <a:xfrm>
          <a:off x="3849602" y="2488474"/>
          <a:ext cx="3225778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Use satellite-based nighttime light observations and outage records.</a:t>
          </a:r>
        </a:p>
      </dsp:txBody>
      <dsp:txXfrm>
        <a:off x="3849602" y="2488474"/>
        <a:ext cx="3225778" cy="1122187"/>
      </dsp:txXfrm>
    </dsp:sp>
    <dsp:sp modelId="{BC1497AB-FBA3-4BB5-981A-BAE9CEC84B7F}">
      <dsp:nvSpPr>
        <dsp:cNvPr id="0" name=""/>
        <dsp:cNvSpPr/>
      </dsp:nvSpPr>
      <dsp:spPr>
        <a:xfrm>
          <a:off x="8526981" y="582143"/>
          <a:ext cx="1451600" cy="14516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B3DFDE-1A22-46CD-872F-787F3EB2831B}">
      <dsp:nvSpPr>
        <dsp:cNvPr id="0" name=""/>
        <dsp:cNvSpPr/>
      </dsp:nvSpPr>
      <dsp:spPr>
        <a:xfrm>
          <a:off x="7639892" y="2488474"/>
          <a:ext cx="3225778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Provide spatially explicit evidence to support environmental and policy analysis.</a:t>
          </a:r>
        </a:p>
      </dsp:txBody>
      <dsp:txXfrm>
        <a:off x="7639892" y="2488474"/>
        <a:ext cx="3225778" cy="11221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F17CB8-170E-44F1-94A9-C7C309BC83C8}">
      <dsp:nvSpPr>
        <dsp:cNvPr id="0" name=""/>
        <dsp:cNvSpPr/>
      </dsp:nvSpPr>
      <dsp:spPr>
        <a:xfrm>
          <a:off x="561872" y="286136"/>
          <a:ext cx="1445889" cy="144588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8402BE-8003-4774-BED9-518485A45900}">
      <dsp:nvSpPr>
        <dsp:cNvPr id="0" name=""/>
        <dsp:cNvSpPr/>
      </dsp:nvSpPr>
      <dsp:spPr>
        <a:xfrm>
          <a:off x="870013" y="594277"/>
          <a:ext cx="829609" cy="8296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60CC31-D510-451F-8006-F9F245EFD9E0}">
      <dsp:nvSpPr>
        <dsp:cNvPr id="0" name=""/>
        <dsp:cNvSpPr/>
      </dsp:nvSpPr>
      <dsp:spPr>
        <a:xfrm>
          <a:off x="99661" y="2182385"/>
          <a:ext cx="2370311" cy="1724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Study Areas: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u="sng" kern="1200" dirty="0"/>
            <a:t>Dallas County and Harris County (Houston),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Texas – selected for frequent outage events and data availability.</a:t>
          </a:r>
        </a:p>
      </dsp:txBody>
      <dsp:txXfrm>
        <a:off x="99661" y="2182385"/>
        <a:ext cx="2370311" cy="1724282"/>
      </dsp:txXfrm>
    </dsp:sp>
    <dsp:sp modelId="{BEDCED29-169F-4DD8-9828-53DE17E87DFF}">
      <dsp:nvSpPr>
        <dsp:cNvPr id="0" name=""/>
        <dsp:cNvSpPr/>
      </dsp:nvSpPr>
      <dsp:spPr>
        <a:xfrm>
          <a:off x="3346988" y="286136"/>
          <a:ext cx="1445889" cy="144588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036281-9EF0-4987-909D-84F33FC04685}">
      <dsp:nvSpPr>
        <dsp:cNvPr id="0" name=""/>
        <dsp:cNvSpPr/>
      </dsp:nvSpPr>
      <dsp:spPr>
        <a:xfrm>
          <a:off x="3655129" y="594277"/>
          <a:ext cx="829609" cy="8296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5DB2B3-5AC8-4F55-90DE-E347EA612FCA}">
      <dsp:nvSpPr>
        <dsp:cNvPr id="0" name=""/>
        <dsp:cNvSpPr/>
      </dsp:nvSpPr>
      <dsp:spPr>
        <a:xfrm>
          <a:off x="2884777" y="2182385"/>
          <a:ext cx="2370311" cy="1724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Nighttime Light: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u="sng" kern="1200" dirty="0"/>
            <a:t>NASA VIIRS Black Marble (VNP46A2),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 dirty="0"/>
            <a:t>500m resolution, daily imagery with quality flags for cloud/noise filtering.</a:t>
          </a:r>
        </a:p>
      </dsp:txBody>
      <dsp:txXfrm>
        <a:off x="2884777" y="2182385"/>
        <a:ext cx="2370311" cy="1724282"/>
      </dsp:txXfrm>
    </dsp:sp>
    <dsp:sp modelId="{D91C4601-80D6-4C75-9B70-1D224FCFC8E7}">
      <dsp:nvSpPr>
        <dsp:cNvPr id="0" name=""/>
        <dsp:cNvSpPr/>
      </dsp:nvSpPr>
      <dsp:spPr>
        <a:xfrm>
          <a:off x="6132104" y="286136"/>
          <a:ext cx="1445889" cy="144588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45998A-7C75-49D8-AB59-7B8C95297498}">
      <dsp:nvSpPr>
        <dsp:cNvPr id="0" name=""/>
        <dsp:cNvSpPr/>
      </dsp:nvSpPr>
      <dsp:spPr>
        <a:xfrm>
          <a:off x="6440244" y="594277"/>
          <a:ext cx="829609" cy="8296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26914-D034-4845-846D-1E4BF71E48DF}">
      <dsp:nvSpPr>
        <dsp:cNvPr id="0" name=""/>
        <dsp:cNvSpPr/>
      </dsp:nvSpPr>
      <dsp:spPr>
        <a:xfrm>
          <a:off x="5669893" y="2182385"/>
          <a:ext cx="2370311" cy="1724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Outage Records: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u="sng" kern="1200" dirty="0" err="1"/>
            <a:t>OpenEI</a:t>
          </a:r>
          <a:r>
            <a:rPr lang="en-US" sz="1400" u="sng" kern="1200" dirty="0"/>
            <a:t> EAGLE-I dataset </a:t>
          </a:r>
          <a:r>
            <a:rPr lang="en-US" sz="1400" kern="1200" dirty="0"/>
            <a:t>providing county-level hourly outage customer counts (2014-present).</a:t>
          </a:r>
        </a:p>
      </dsp:txBody>
      <dsp:txXfrm>
        <a:off x="5669893" y="2182385"/>
        <a:ext cx="2370311" cy="1724282"/>
      </dsp:txXfrm>
    </dsp:sp>
    <dsp:sp modelId="{D3451BBB-23C3-4C9A-ADA9-B107BCE13916}">
      <dsp:nvSpPr>
        <dsp:cNvPr id="0" name=""/>
        <dsp:cNvSpPr/>
      </dsp:nvSpPr>
      <dsp:spPr>
        <a:xfrm>
          <a:off x="8917220" y="286136"/>
          <a:ext cx="1445889" cy="144588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2EA54-8E3E-48FD-951A-46EAB9E80B37}">
      <dsp:nvSpPr>
        <dsp:cNvPr id="0" name=""/>
        <dsp:cNvSpPr/>
      </dsp:nvSpPr>
      <dsp:spPr>
        <a:xfrm>
          <a:off x="9225360" y="594277"/>
          <a:ext cx="829609" cy="8296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4383F-13C3-4D6E-8243-E178B08C75B7}">
      <dsp:nvSpPr>
        <dsp:cNvPr id="0" name=""/>
        <dsp:cNvSpPr/>
      </dsp:nvSpPr>
      <dsp:spPr>
        <a:xfrm>
          <a:off x="8455009" y="2182385"/>
          <a:ext cx="2370311" cy="17242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kern="1200" dirty="0"/>
            <a:t>POI Data: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u="sng" kern="1200" dirty="0"/>
            <a:t>OpenStreetMap </a:t>
          </a:r>
          <a:r>
            <a:rPr lang="en-US" sz="1400" kern="1200" dirty="0"/>
            <a:t>critical facilities (hospitals, airports, police, fire stations…);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u="sng" kern="1200" dirty="0"/>
            <a:t>Air Permit database </a:t>
          </a:r>
          <a:r>
            <a:rPr lang="en-US" sz="1400" kern="1200" dirty="0"/>
            <a:t>for post-code level generator registrations.</a:t>
          </a:r>
        </a:p>
      </dsp:txBody>
      <dsp:txXfrm>
        <a:off x="8455009" y="2182385"/>
        <a:ext cx="2370311" cy="17242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1A65AA-D224-FC48-ADD5-6D88DF46FA05}">
      <dsp:nvSpPr>
        <dsp:cNvPr id="0" name=""/>
        <dsp:cNvSpPr/>
      </dsp:nvSpPr>
      <dsp:spPr>
        <a:xfrm>
          <a:off x="402445" y="2506"/>
          <a:ext cx="3033740" cy="18202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Data Coverage: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23 outage events identified; 44% show NTL decrease during outages (excluding high-snow events).</a:t>
          </a:r>
        </a:p>
      </dsp:txBody>
      <dsp:txXfrm>
        <a:off x="402445" y="2506"/>
        <a:ext cx="3033740" cy="1820244"/>
      </dsp:txXfrm>
    </dsp:sp>
    <dsp:sp modelId="{5C3EDF4E-20CC-3443-8EC4-6D550F47434E}">
      <dsp:nvSpPr>
        <dsp:cNvPr id="0" name=""/>
        <dsp:cNvSpPr/>
      </dsp:nvSpPr>
      <dsp:spPr>
        <a:xfrm>
          <a:off x="3739560" y="2506"/>
          <a:ext cx="3033740" cy="18202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Buffer Analysis: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500m buffer around critical facilities shows slightly higher NTL resilience than surrounding areas.</a:t>
          </a:r>
        </a:p>
      </dsp:txBody>
      <dsp:txXfrm>
        <a:off x="3739560" y="2506"/>
        <a:ext cx="3033740" cy="1820244"/>
      </dsp:txXfrm>
    </dsp:sp>
    <dsp:sp modelId="{B67BAC48-571C-6F45-A491-48E2399D3645}">
      <dsp:nvSpPr>
        <dsp:cNvPr id="0" name=""/>
        <dsp:cNvSpPr/>
      </dsp:nvSpPr>
      <dsp:spPr>
        <a:xfrm>
          <a:off x="7076675" y="2506"/>
          <a:ext cx="3033740" cy="18202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Signal Limitation: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 500m spatial resolution constrains individual facility-level detection; statistical approaches required.</a:t>
          </a:r>
        </a:p>
      </dsp:txBody>
      <dsp:txXfrm>
        <a:off x="7076675" y="2506"/>
        <a:ext cx="3033740" cy="1820244"/>
      </dsp:txXfrm>
    </dsp:sp>
    <dsp:sp modelId="{273FD928-EF8B-FA4E-A102-7CA9D41E38B2}">
      <dsp:nvSpPr>
        <dsp:cNvPr id="0" name=""/>
        <dsp:cNvSpPr/>
      </dsp:nvSpPr>
      <dsp:spPr>
        <a:xfrm>
          <a:off x="3739560" y="2126125"/>
          <a:ext cx="3033740" cy="18202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Next Steps: 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Pixel-level anomaly detection methods and validation against permit-based ground truth data.</a:t>
          </a:r>
        </a:p>
      </dsp:txBody>
      <dsp:txXfrm>
        <a:off x="3739560" y="2126125"/>
        <a:ext cx="3033740" cy="18202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B571E-4777-074C-9D19-66062E250334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8AEBB-9273-8C44-B2C2-765F1008319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074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8AEBB-9273-8C44-B2C2-765F1008319D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2808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46DE2-65B3-4D0F-80F8-A672E725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DD35A5-E049-3753-B6B6-2F9B075D4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5D4BCD6-2AE8-798D-5AE5-C156194F0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8FC882-2920-7A2A-B23E-09E7AC1A9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8AEBB-9273-8C44-B2C2-765F1008319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8644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9C8658-0E0F-154D-8E44-75039725FEC6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586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5151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>
              <a:defRPr sz="4000">
                <a:solidFill>
                  <a:srgbClr val="203764"/>
                </a:solidFill>
              </a:defRPr>
            </a:pPr>
            <a:r>
              <a:rPr dirty="0"/>
              <a:t>Identifying Backup Generator Usage During Power Outages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642360"/>
            <a:ext cx="6400800" cy="1752600"/>
          </a:xfrm>
        </p:spPr>
        <p:txBody>
          <a:bodyPr/>
          <a:lstStyle/>
          <a:p>
            <a:pPr algn="l">
              <a:defRPr sz="2400"/>
            </a:pPr>
            <a:r>
              <a:rPr dirty="0"/>
              <a:t>Nighttime Light–Based Evidence from Texas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605633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3764"/>
                </a:solidFill>
              </a:defRPr>
            </a:pPr>
            <a:r>
              <a:t>Zhiyuan Zhao · Qiushi Yu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203764"/>
                </a:solidFill>
              </a:defRPr>
            </a:pPr>
            <a:r>
              <a:rPr lang="en" sz="4000">
                <a:solidFill>
                  <a:srgbClr val="FFFFFF"/>
                </a:solidFill>
              </a:rPr>
              <a:t>Project Background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2D65C5-34A4-FDA7-8E1D-97A981F99A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1837480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203764"/>
                </a:solidFill>
              </a:defRPr>
            </a:pPr>
            <a:r>
              <a:rPr lang="en" sz="4000">
                <a:solidFill>
                  <a:srgbClr val="FFFFFF"/>
                </a:solidFill>
              </a:rPr>
              <a:t>Research Objective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6348A5CD-0F21-EEBC-9CAD-B74AAAAC36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845516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771" y="639520"/>
            <a:ext cx="4656533" cy="1719072"/>
          </a:xfrm>
        </p:spPr>
        <p:txBody>
          <a:bodyPr anchor="b">
            <a:normAutofit/>
          </a:bodyPr>
          <a:lstStyle/>
          <a:p>
            <a:pPr algn="l">
              <a:defRPr>
                <a:solidFill>
                  <a:srgbClr val="203764"/>
                </a:solidFill>
              </a:defRPr>
            </a:pPr>
            <a:r>
              <a:rPr lang="en" dirty="0"/>
              <a:t>Resilience Curve Framework 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10" y="2573756"/>
            <a:ext cx="3254247" cy="18288"/>
          </a:xfrm>
          <a:custGeom>
            <a:avLst/>
            <a:gdLst>
              <a:gd name="csX0" fmla="*/ 0 w 3254247"/>
              <a:gd name="csY0" fmla="*/ 0 h 18288"/>
              <a:gd name="csX1" fmla="*/ 618307 w 3254247"/>
              <a:gd name="csY1" fmla="*/ 0 h 18288"/>
              <a:gd name="csX2" fmla="*/ 1269156 w 3254247"/>
              <a:gd name="csY2" fmla="*/ 0 h 18288"/>
              <a:gd name="csX3" fmla="*/ 1952548 w 3254247"/>
              <a:gd name="csY3" fmla="*/ 0 h 18288"/>
              <a:gd name="csX4" fmla="*/ 2635940 w 3254247"/>
              <a:gd name="csY4" fmla="*/ 0 h 18288"/>
              <a:gd name="csX5" fmla="*/ 3254247 w 3254247"/>
              <a:gd name="csY5" fmla="*/ 0 h 18288"/>
              <a:gd name="csX6" fmla="*/ 3254247 w 3254247"/>
              <a:gd name="csY6" fmla="*/ 18288 h 18288"/>
              <a:gd name="csX7" fmla="*/ 2538313 w 3254247"/>
              <a:gd name="csY7" fmla="*/ 18288 h 18288"/>
              <a:gd name="csX8" fmla="*/ 1822378 w 3254247"/>
              <a:gd name="csY8" fmla="*/ 18288 h 18288"/>
              <a:gd name="csX9" fmla="*/ 1171529 w 3254247"/>
              <a:gd name="csY9" fmla="*/ 18288 h 18288"/>
              <a:gd name="csX10" fmla="*/ 0 w 3254247"/>
              <a:gd name="csY10" fmla="*/ 18288 h 18288"/>
              <a:gd name="csX11" fmla="*/ 0 w 3254247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4247" h="18288" fill="none" extrusionOk="0">
                <a:moveTo>
                  <a:pt x="0" y="0"/>
                </a:moveTo>
                <a:cubicBezTo>
                  <a:pt x="144450" y="-12392"/>
                  <a:pt x="427337" y="305"/>
                  <a:pt x="618307" y="0"/>
                </a:cubicBezTo>
                <a:cubicBezTo>
                  <a:pt x="809277" y="-305"/>
                  <a:pt x="1078885" y="8814"/>
                  <a:pt x="1269156" y="0"/>
                </a:cubicBezTo>
                <a:cubicBezTo>
                  <a:pt x="1459427" y="-8814"/>
                  <a:pt x="1722292" y="-25341"/>
                  <a:pt x="1952548" y="0"/>
                </a:cubicBezTo>
                <a:cubicBezTo>
                  <a:pt x="2182804" y="25341"/>
                  <a:pt x="2398437" y="-22277"/>
                  <a:pt x="2635940" y="0"/>
                </a:cubicBezTo>
                <a:cubicBezTo>
                  <a:pt x="2873443" y="22277"/>
                  <a:pt x="3033770" y="159"/>
                  <a:pt x="3254247" y="0"/>
                </a:cubicBezTo>
                <a:cubicBezTo>
                  <a:pt x="3253538" y="8157"/>
                  <a:pt x="3253834" y="12125"/>
                  <a:pt x="3254247" y="18288"/>
                </a:cubicBezTo>
                <a:cubicBezTo>
                  <a:pt x="2959973" y="-3940"/>
                  <a:pt x="2715651" y="17499"/>
                  <a:pt x="2538313" y="18288"/>
                </a:cubicBezTo>
                <a:cubicBezTo>
                  <a:pt x="2360975" y="19077"/>
                  <a:pt x="2071193" y="10564"/>
                  <a:pt x="1822378" y="18288"/>
                </a:cubicBezTo>
                <a:cubicBezTo>
                  <a:pt x="1573564" y="26012"/>
                  <a:pt x="1460056" y="11360"/>
                  <a:pt x="1171529" y="18288"/>
                </a:cubicBezTo>
                <a:cubicBezTo>
                  <a:pt x="883002" y="25216"/>
                  <a:pt x="556569" y="57254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4247" h="18288" stroke="0" extrusionOk="0">
                <a:moveTo>
                  <a:pt x="0" y="0"/>
                </a:moveTo>
                <a:cubicBezTo>
                  <a:pt x="245716" y="-28411"/>
                  <a:pt x="413361" y="22670"/>
                  <a:pt x="618307" y="0"/>
                </a:cubicBezTo>
                <a:cubicBezTo>
                  <a:pt x="823253" y="-22670"/>
                  <a:pt x="907327" y="17544"/>
                  <a:pt x="1171529" y="0"/>
                </a:cubicBezTo>
                <a:cubicBezTo>
                  <a:pt x="1435731" y="-17544"/>
                  <a:pt x="1714065" y="-34404"/>
                  <a:pt x="1887463" y="0"/>
                </a:cubicBezTo>
                <a:cubicBezTo>
                  <a:pt x="2060861" y="34404"/>
                  <a:pt x="2348517" y="24017"/>
                  <a:pt x="2505770" y="0"/>
                </a:cubicBezTo>
                <a:cubicBezTo>
                  <a:pt x="2663023" y="-24017"/>
                  <a:pt x="3030962" y="-27792"/>
                  <a:pt x="3254247" y="0"/>
                </a:cubicBezTo>
                <a:cubicBezTo>
                  <a:pt x="3253983" y="4493"/>
                  <a:pt x="3254631" y="9472"/>
                  <a:pt x="3254247" y="18288"/>
                </a:cubicBezTo>
                <a:cubicBezTo>
                  <a:pt x="2934372" y="-7513"/>
                  <a:pt x="2749175" y="38681"/>
                  <a:pt x="2603398" y="18288"/>
                </a:cubicBezTo>
                <a:cubicBezTo>
                  <a:pt x="2457621" y="-2105"/>
                  <a:pt x="2184707" y="10633"/>
                  <a:pt x="1887463" y="18288"/>
                </a:cubicBezTo>
                <a:cubicBezTo>
                  <a:pt x="1590219" y="25943"/>
                  <a:pt x="1494607" y="28003"/>
                  <a:pt x="1334241" y="18288"/>
                </a:cubicBezTo>
                <a:cubicBezTo>
                  <a:pt x="1173875" y="8573"/>
                  <a:pt x="962016" y="17971"/>
                  <a:pt x="683392" y="18288"/>
                </a:cubicBezTo>
                <a:cubicBezTo>
                  <a:pt x="404768" y="18605"/>
                  <a:pt x="256873" y="5009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771" y="3224982"/>
            <a:ext cx="11327549" cy="3410712"/>
          </a:xfrm>
        </p:spPr>
        <p:txBody>
          <a:bodyPr anchor="t">
            <a:normAutofit fontScale="92500"/>
          </a:bodyPr>
          <a:lstStyle/>
          <a:p>
            <a:pPr marL="0" indent="0" algn="just">
              <a:lnSpc>
                <a:spcPct val="120000"/>
              </a:lnSpc>
              <a:buNone/>
              <a:defRPr sz="2000">
                <a:solidFill>
                  <a:srgbClr val="323232"/>
                </a:solidFill>
              </a:defRPr>
            </a:pPr>
            <a:r>
              <a:rPr lang="en" sz="2000" dirty="0"/>
              <a:t>	Before, during, and after a disaster occurs, the performance of a system is represented by the </a:t>
            </a:r>
            <a:r>
              <a:rPr lang="en" sz="2000" b="1" dirty="0"/>
              <a:t>resilience curve. </a:t>
            </a:r>
            <a:r>
              <a:rPr lang="en" sz="2000" dirty="0"/>
              <a:t>At the time of disruption, the system’s performance experiences a sudden drop. As time progresses, the performance gradually increases, leading to either partial or full recovery, depending on the recovery efforts</a:t>
            </a:r>
            <a:r>
              <a:rPr lang="en-US" sz="2000" dirty="0"/>
              <a:t>.</a:t>
            </a:r>
          </a:p>
          <a:p>
            <a:pPr marL="0" indent="0" algn="just">
              <a:lnSpc>
                <a:spcPct val="120000"/>
              </a:lnSpc>
              <a:buNone/>
              <a:defRPr sz="2000">
                <a:solidFill>
                  <a:srgbClr val="323232"/>
                </a:solidFill>
              </a:defRPr>
            </a:pPr>
            <a:r>
              <a:rPr lang="en" altLang="zh-CN" sz="2000" dirty="0"/>
              <a:t>	During power outages, </a:t>
            </a:r>
            <a:r>
              <a:rPr lang="en" altLang="zh-CN" sz="2000" b="1" dirty="0"/>
              <a:t>the nighttime light curves of facilities equipped with backup generators show significant differences compared to other areas. </a:t>
            </a:r>
            <a:r>
              <a:rPr lang="en" altLang="zh-CN" sz="2000" dirty="0"/>
              <a:t>We </a:t>
            </a:r>
            <a:r>
              <a:rPr lang="en-US" altLang="zh-CN" sz="2000" dirty="0"/>
              <a:t>use</a:t>
            </a:r>
            <a:r>
              <a:rPr lang="en" altLang="zh-CN" sz="2000" dirty="0"/>
              <a:t> this contrast to identify the presence of backup generators. </a:t>
            </a:r>
          </a:p>
          <a:p>
            <a:pPr marL="0" indent="0" algn="just">
              <a:lnSpc>
                <a:spcPct val="120000"/>
              </a:lnSpc>
              <a:buNone/>
              <a:defRPr sz="2000">
                <a:solidFill>
                  <a:srgbClr val="323232"/>
                </a:solidFill>
              </a:defRPr>
            </a:pPr>
            <a:r>
              <a:rPr lang="en" altLang="zh-CN" sz="2000" dirty="0"/>
              <a:t>	</a:t>
            </a:r>
            <a:r>
              <a:rPr lang="en" altLang="zh-CN" sz="2000" b="1" dirty="0"/>
              <a:t>Because precise generator locations are unavailable and only postcode-level information exists, we combine this with the fact that critical public facilities generally have backup generators to generate labels for our model.</a:t>
            </a:r>
          </a:p>
          <a:p>
            <a:pPr marL="0" indent="0" algn="just">
              <a:lnSpc>
                <a:spcPct val="120000"/>
              </a:lnSpc>
              <a:buNone/>
              <a:defRPr sz="2000">
                <a:solidFill>
                  <a:srgbClr val="323232"/>
                </a:solidFill>
              </a:defRPr>
            </a:pPr>
            <a:endParaRPr lang="en" sz="2000" dirty="0"/>
          </a:p>
        </p:txBody>
      </p:sp>
      <p:pic>
        <p:nvPicPr>
          <p:cNvPr id="6" name="图片 5" descr="图示, 折线图&#10;&#10;AI 生成的内容可能不正确。">
            <a:extLst>
              <a:ext uri="{FF2B5EF4-FFF2-40B4-BE49-F238E27FC236}">
                <a16:creationId xmlns:a16="http://schemas.microsoft.com/office/drawing/2014/main" id="{04FFFC4F-A002-941E-9DC8-47170762F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668" y="103596"/>
            <a:ext cx="6402846" cy="31213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6740" y="0"/>
            <a:ext cx="4062085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6190" y="-5306190"/>
            <a:ext cx="1576446" cy="12188827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239" y="348865"/>
            <a:ext cx="10041408" cy="877729"/>
          </a:xfrm>
        </p:spPr>
        <p:txBody>
          <a:bodyPr anchor="ctr">
            <a:normAutofit/>
          </a:bodyPr>
          <a:lstStyle/>
          <a:p>
            <a:pPr>
              <a:defRPr>
                <a:solidFill>
                  <a:srgbClr val="203764"/>
                </a:solidFill>
              </a:defRPr>
            </a:pPr>
            <a:r>
              <a:rPr lang="en" sz="4000">
                <a:solidFill>
                  <a:srgbClr val="FFFFFF"/>
                </a:solidFill>
              </a:rPr>
              <a:t>Study Areas and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76F8D9-3E38-075B-12F0-030D5AEDA9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7135322"/>
              </p:ext>
            </p:extLst>
          </p:nvPr>
        </p:nvGraphicFramePr>
        <p:xfrm>
          <a:off x="643888" y="2112579"/>
          <a:ext cx="10924983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B35D9-3B0B-EE42-8AAD-AA4AE82E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2520702-C114-7BF5-A33D-8B1C6234C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66572A-9047-823B-36C4-0076A0795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0244" y="223823"/>
            <a:ext cx="5322328" cy="645431"/>
          </a:xfrm>
        </p:spPr>
        <p:txBody>
          <a:bodyPr anchor="b">
            <a:normAutofit fontScale="90000"/>
          </a:bodyPr>
          <a:lstStyle/>
          <a:p>
            <a:pPr>
              <a:defRPr>
                <a:solidFill>
                  <a:srgbClr val="203764"/>
                </a:solidFill>
              </a:defRPr>
            </a:pPr>
            <a:r>
              <a:rPr lang="en" sz="4000" dirty="0"/>
              <a:t>Analytical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33F29-F081-A7F2-0C05-F4475E0A8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613" y="918011"/>
            <a:ext cx="6717511" cy="5307290"/>
          </a:xfrm>
        </p:spPr>
        <p:txBody>
          <a:bodyPr anchor="t">
            <a:noAutofit/>
          </a:bodyPr>
          <a:lstStyle/>
          <a:p>
            <a:pPr algn="just">
              <a:lnSpc>
                <a:spcPct val="170000"/>
              </a:lnSpc>
              <a:defRPr sz="2000">
                <a:solidFill>
                  <a:srgbClr val="323232"/>
                </a:solidFill>
              </a:defRPr>
            </a:pPr>
            <a:r>
              <a:rPr lang="en" sz="1600" b="1" dirty="0"/>
              <a:t>Step 1: Screen outage events</a:t>
            </a:r>
            <a:r>
              <a:rPr lang="en" sz="1600" dirty="0"/>
              <a:t> from EAGLE-I records based on severity (&gt;10,000 affected customers) and duration (&gt;</a:t>
            </a:r>
            <a:r>
              <a:rPr lang="en-US" altLang="zh-CN" sz="1600" dirty="0"/>
              <a:t>8</a:t>
            </a:r>
            <a:r>
              <a:rPr lang="en" sz="1600" dirty="0"/>
              <a:t> hours).</a:t>
            </a:r>
          </a:p>
          <a:p>
            <a:pPr algn="just">
              <a:lnSpc>
                <a:spcPct val="170000"/>
              </a:lnSpc>
              <a:defRPr sz="2000">
                <a:solidFill>
                  <a:srgbClr val="323232"/>
                </a:solidFill>
              </a:defRPr>
            </a:pPr>
            <a:r>
              <a:rPr lang="en" sz="1600" b="1" dirty="0"/>
              <a:t>Step 2: Define temporal windows:</a:t>
            </a:r>
            <a:r>
              <a:rPr lang="en" sz="1600" dirty="0"/>
              <a:t> pre-outage baseline (</a:t>
            </a:r>
            <a:r>
              <a:rPr lang="en-US" altLang="zh-CN" sz="1600" dirty="0"/>
              <a:t>5</a:t>
            </a:r>
            <a:r>
              <a:rPr lang="en" sz="1600" dirty="0"/>
              <a:t> days), during-outage period, and post-outage recovery (</a:t>
            </a:r>
            <a:r>
              <a:rPr lang="en-US" altLang="zh-CN" sz="1600" dirty="0"/>
              <a:t>5</a:t>
            </a:r>
            <a:r>
              <a:rPr lang="en" sz="1600" dirty="0"/>
              <a:t> days).</a:t>
            </a:r>
          </a:p>
          <a:p>
            <a:pPr algn="just">
              <a:lnSpc>
                <a:spcPct val="170000"/>
              </a:lnSpc>
              <a:defRPr sz="2000">
                <a:solidFill>
                  <a:srgbClr val="323232"/>
                </a:solidFill>
              </a:defRPr>
            </a:pPr>
            <a:r>
              <a:rPr lang="en" sz="1600" b="1" dirty="0"/>
              <a:t>Step 3: Extract pixel-level NTL radiance</a:t>
            </a:r>
            <a:r>
              <a:rPr lang="en" sz="1600" dirty="0"/>
              <a:t> from VIIRS VNP46A2, applying QA flags to exclude cloud-contaminated observations.</a:t>
            </a:r>
          </a:p>
          <a:p>
            <a:pPr algn="just">
              <a:lnSpc>
                <a:spcPct val="170000"/>
              </a:lnSpc>
              <a:defRPr sz="2000">
                <a:solidFill>
                  <a:srgbClr val="323232"/>
                </a:solidFill>
              </a:defRPr>
            </a:pPr>
            <a:r>
              <a:rPr lang="en" sz="1600" b="1" dirty="0"/>
              <a:t>Step 4: Extract NTL anomaly features</a:t>
            </a:r>
            <a:r>
              <a:rPr lang="en" sz="1600" dirty="0"/>
              <a:t> (intensity change, recovery rate, spatial patterns) for model input.</a:t>
            </a:r>
          </a:p>
          <a:p>
            <a:pPr algn="just">
              <a:lnSpc>
                <a:spcPct val="170000"/>
              </a:lnSpc>
              <a:defRPr sz="2000">
                <a:solidFill>
                  <a:srgbClr val="323232"/>
                </a:solidFill>
              </a:defRPr>
            </a:pPr>
            <a:r>
              <a:rPr lang="en" sz="1600" b="1" dirty="0"/>
              <a:t>Step 5: Apply deep learning models</a:t>
            </a:r>
            <a:r>
              <a:rPr lang="en" sz="1600" dirty="0"/>
              <a:t> to classify backup generator usage patterns based on NTL anomaly features.</a:t>
            </a:r>
          </a:p>
          <a:p>
            <a:pPr algn="just">
              <a:lnSpc>
                <a:spcPct val="170000"/>
              </a:lnSpc>
              <a:defRPr sz="2000">
                <a:solidFill>
                  <a:srgbClr val="323232"/>
                </a:solidFill>
              </a:defRPr>
            </a:pPr>
            <a:r>
              <a:rPr lang="en" sz="1600" b="1" dirty="0"/>
              <a:t>Step 6: Validate</a:t>
            </a:r>
            <a:r>
              <a:rPr lang="en" sz="1600" dirty="0"/>
              <a:t> predictions against Air Permit generator records and critical facility POI data.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AC3AE1-7065-E668-872E-363A8119F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1217" y="-5"/>
            <a:ext cx="4091455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1D12BA-4301-A1A4-43F8-B3302C131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1217" y="-2"/>
            <a:ext cx="4091455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40B2DC-6A21-E6CE-4971-2FE3C355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1217" y="-22"/>
            <a:ext cx="4067608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D7DBA0-F75E-E1C6-3DF2-4E73D172A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1217" y="-10"/>
            <a:ext cx="361052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CC30F7-F84E-F482-874C-32CA929F5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124" y="452317"/>
            <a:ext cx="4272749" cy="51790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2A9D513-82FB-D898-350D-5076EA0BE7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047" y="5604415"/>
            <a:ext cx="4035826" cy="479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362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109699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 sz="2399"/>
          </a:p>
        </p:txBody>
      </p:sp>
      <p:sp>
        <p:nvSpPr>
          <p:cNvPr id="3" name="Text 1"/>
          <p:cNvSpPr/>
          <p:nvPr/>
        </p:nvSpPr>
        <p:spPr>
          <a:xfrm>
            <a:off x="609441" y="305614"/>
            <a:ext cx="1096994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Progress: Data Availability</a:t>
            </a:r>
            <a:endParaRPr lang="en-US" sz="3199" dirty="0"/>
          </a:p>
        </p:txBody>
      </p:sp>
      <p:sp>
        <p:nvSpPr>
          <p:cNvPr id="4" name="Text 2"/>
          <p:cNvSpPr/>
          <p:nvPr/>
        </p:nvSpPr>
        <p:spPr>
          <a:xfrm>
            <a:off x="365664" y="1341664"/>
            <a:ext cx="4875530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Data Summary</a:t>
            </a:r>
            <a:endParaRPr lang="en-US" sz="1866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65664" y="1768272"/>
          <a:ext cx="5119307" cy="1828325"/>
        </p:xfrm>
        <a:graphic>
          <a:graphicData uri="http://schemas.openxmlformats.org/drawingml/2006/table">
            <a:tbl>
              <a:tblPr/>
              <a:tblGrid>
                <a:gridCol w="3412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Outage Events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with During-Outage 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with High Snow Cover (&gt;10%)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Usable Events for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72524" y="1341664"/>
            <a:ext cx="548497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Data Coverage</a:t>
            </a:r>
            <a:endParaRPr lang="en-US" sz="1866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/>
        </p:nvGraphicFramePr>
        <p:xfrm>
          <a:off x="5972524" y="1768273"/>
          <a:ext cx="4631753" cy="5017729"/>
        </p:xfrm>
        <a:graphic>
          <a:graphicData uri="http://schemas.openxmlformats.org/drawingml/2006/table">
            <a:tbl>
              <a:tblPr/>
              <a:tblGrid>
                <a:gridCol w="853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4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4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32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40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Texas-0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893"/>
            <a:ext cx="12188825" cy="109699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zh-CN" altLang="en-US" sz="2399"/>
          </a:p>
        </p:txBody>
      </p:sp>
      <p:sp>
        <p:nvSpPr>
          <p:cNvPr id="3" name="Text 1"/>
          <p:cNvSpPr/>
          <p:nvPr/>
        </p:nvSpPr>
        <p:spPr>
          <a:xfrm>
            <a:off x="609441" y="305614"/>
            <a:ext cx="10969943" cy="487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199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Progress: NTL Change Analysis</a:t>
            </a:r>
            <a:endParaRPr lang="en-US" sz="3199" dirty="0"/>
          </a:p>
        </p:txBody>
      </p:sp>
      <p:sp>
        <p:nvSpPr>
          <p:cNvPr id="4" name="Text 2"/>
          <p:cNvSpPr/>
          <p:nvPr/>
        </p:nvSpPr>
        <p:spPr>
          <a:xfrm>
            <a:off x="365664" y="1280719"/>
            <a:ext cx="6094413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County-Level NTL Change During Outages</a:t>
            </a:r>
            <a:endParaRPr lang="en-US" sz="1866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243776" y="1646384"/>
          <a:ext cx="4448921" cy="4937184"/>
        </p:xfrm>
        <a:graphic>
          <a:graphicData uri="http://schemas.openxmlformats.org/drawingml/2006/table">
            <a:tbl>
              <a:tblPr/>
              <a:tblGrid>
                <a:gridCol w="73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0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0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Chg%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16300" y="1280719"/>
            <a:ext cx="5484971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r>
              <a:rPr lang="zh-CN" altLang="en-US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r>
              <a:rPr lang="en-US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Non-</a:t>
            </a:r>
            <a:r>
              <a:rPr lang="en-US" altLang="zh-CN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Critical</a:t>
            </a:r>
            <a:r>
              <a:rPr lang="zh-CN" altLang="en-US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CN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r>
              <a:rPr lang="en-US" sz="1866" b="1" dirty="0">
                <a:solidFill>
                  <a:srgbClr val="2B5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NTL Change</a:t>
            </a:r>
            <a:endParaRPr lang="en-US" sz="1866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/>
        </p:nvGraphicFramePr>
        <p:xfrm>
          <a:off x="6216300" y="1646384"/>
          <a:ext cx="4144202" cy="4937184"/>
        </p:xfrm>
        <a:graphic>
          <a:graphicData uri="http://schemas.openxmlformats.org/drawingml/2006/table">
            <a:tbl>
              <a:tblPr/>
              <a:tblGrid>
                <a:gridCol w="73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3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-20.2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42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888" marR="121888" marT="60944" marB="60944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43776" y="6339082"/>
            <a:ext cx="11701272" cy="463175"/>
          </a:xfrm>
          <a:prstGeom prst="rect">
            <a:avLst/>
          </a:prstGeom>
          <a:solidFill>
            <a:srgbClr val="E8F4EA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zh-CN" altLang="en-US" sz="2399"/>
          </a:p>
        </p:txBody>
      </p:sp>
      <p:sp>
        <p:nvSpPr>
          <p:cNvPr id="9" name="Text 5"/>
          <p:cNvSpPr/>
          <p:nvPr/>
        </p:nvSpPr>
        <p:spPr>
          <a:xfrm>
            <a:off x="426609" y="6400026"/>
            <a:ext cx="11335607" cy="365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Buffer regions (500m around critical facilities) show +2.4% higher NTL resilience on average.</a:t>
            </a:r>
            <a:endParaRPr lang="en-US" sz="13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pPr>
              <a:defRPr sz="3000">
                <a:solidFill>
                  <a:srgbClr val="203764"/>
                </a:solidFill>
              </a:defRPr>
            </a:pPr>
            <a:r>
              <a:rPr lang="en" sz="5300"/>
              <a:t>Current Progress: Data Availability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98A3CC-B4E2-0190-5CD8-55BDC35FEE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7981" y="2228087"/>
          <a:ext cx="10512862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D8991A8-364C-F668-A308-52746FFC2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451381"/>
            <a:ext cx="10509815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kumimoji="1" lang="en-US" altLang="zh-CN" sz="6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Thanks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1" y="4718595"/>
            <a:ext cx="5408791" cy="18288"/>
          </a:xfrm>
          <a:custGeom>
            <a:avLst/>
            <a:gdLst>
              <a:gd name="csX0" fmla="*/ 0 w 5408791"/>
              <a:gd name="csY0" fmla="*/ 0 h 18288"/>
              <a:gd name="csX1" fmla="*/ 567923 w 5408791"/>
              <a:gd name="csY1" fmla="*/ 0 h 18288"/>
              <a:gd name="csX2" fmla="*/ 1298110 w 5408791"/>
              <a:gd name="csY2" fmla="*/ 0 h 18288"/>
              <a:gd name="csX3" fmla="*/ 1920121 w 5408791"/>
              <a:gd name="csY3" fmla="*/ 0 h 18288"/>
              <a:gd name="csX4" fmla="*/ 2488044 w 5408791"/>
              <a:gd name="csY4" fmla="*/ 0 h 18288"/>
              <a:gd name="csX5" fmla="*/ 3218231 w 5408791"/>
              <a:gd name="csY5" fmla="*/ 0 h 18288"/>
              <a:gd name="csX6" fmla="*/ 3894330 w 5408791"/>
              <a:gd name="csY6" fmla="*/ 0 h 18288"/>
              <a:gd name="csX7" fmla="*/ 4570428 w 5408791"/>
              <a:gd name="csY7" fmla="*/ 0 h 18288"/>
              <a:gd name="csX8" fmla="*/ 5408791 w 5408791"/>
              <a:gd name="csY8" fmla="*/ 0 h 18288"/>
              <a:gd name="csX9" fmla="*/ 5408791 w 5408791"/>
              <a:gd name="csY9" fmla="*/ 18288 h 18288"/>
              <a:gd name="csX10" fmla="*/ 4840868 w 5408791"/>
              <a:gd name="csY10" fmla="*/ 18288 h 18288"/>
              <a:gd name="csX11" fmla="*/ 4327033 w 5408791"/>
              <a:gd name="csY11" fmla="*/ 18288 h 18288"/>
              <a:gd name="csX12" fmla="*/ 3596846 w 5408791"/>
              <a:gd name="csY12" fmla="*/ 18288 h 18288"/>
              <a:gd name="csX13" fmla="*/ 3028923 w 5408791"/>
              <a:gd name="csY13" fmla="*/ 18288 h 18288"/>
              <a:gd name="csX14" fmla="*/ 2298736 w 5408791"/>
              <a:gd name="csY14" fmla="*/ 18288 h 18288"/>
              <a:gd name="csX15" fmla="*/ 1514461 w 5408791"/>
              <a:gd name="csY15" fmla="*/ 18288 h 18288"/>
              <a:gd name="csX16" fmla="*/ 892451 w 5408791"/>
              <a:gd name="csY16" fmla="*/ 18288 h 18288"/>
              <a:gd name="csX17" fmla="*/ 0 w 5408791"/>
              <a:gd name="csY17" fmla="*/ 18288 h 18288"/>
              <a:gd name="csX18" fmla="*/ 0 w 5408791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08791" h="18288" fill="none" extrusionOk="0">
                <a:moveTo>
                  <a:pt x="0" y="0"/>
                </a:moveTo>
                <a:cubicBezTo>
                  <a:pt x="227445" y="-23676"/>
                  <a:pt x="392639" y="17013"/>
                  <a:pt x="567923" y="0"/>
                </a:cubicBezTo>
                <a:cubicBezTo>
                  <a:pt x="743207" y="-17013"/>
                  <a:pt x="1039999" y="11547"/>
                  <a:pt x="1298110" y="0"/>
                </a:cubicBezTo>
                <a:cubicBezTo>
                  <a:pt x="1556221" y="-11547"/>
                  <a:pt x="1739232" y="228"/>
                  <a:pt x="1920121" y="0"/>
                </a:cubicBezTo>
                <a:cubicBezTo>
                  <a:pt x="2101010" y="-228"/>
                  <a:pt x="2347905" y="11238"/>
                  <a:pt x="2488044" y="0"/>
                </a:cubicBezTo>
                <a:cubicBezTo>
                  <a:pt x="2628183" y="-11238"/>
                  <a:pt x="2861746" y="15147"/>
                  <a:pt x="3218231" y="0"/>
                </a:cubicBezTo>
                <a:cubicBezTo>
                  <a:pt x="3574716" y="-15147"/>
                  <a:pt x="3757262" y="-12209"/>
                  <a:pt x="3894330" y="0"/>
                </a:cubicBezTo>
                <a:cubicBezTo>
                  <a:pt x="4031398" y="12209"/>
                  <a:pt x="4399701" y="22807"/>
                  <a:pt x="4570428" y="0"/>
                </a:cubicBezTo>
                <a:cubicBezTo>
                  <a:pt x="4741155" y="-22807"/>
                  <a:pt x="5107118" y="35143"/>
                  <a:pt x="5408791" y="0"/>
                </a:cubicBezTo>
                <a:cubicBezTo>
                  <a:pt x="5409321" y="6954"/>
                  <a:pt x="5409525" y="12839"/>
                  <a:pt x="5408791" y="18288"/>
                </a:cubicBezTo>
                <a:cubicBezTo>
                  <a:pt x="5253181" y="24486"/>
                  <a:pt x="4985534" y="841"/>
                  <a:pt x="4840868" y="18288"/>
                </a:cubicBezTo>
                <a:cubicBezTo>
                  <a:pt x="4696202" y="35735"/>
                  <a:pt x="4522151" y="6420"/>
                  <a:pt x="4327033" y="18288"/>
                </a:cubicBezTo>
                <a:cubicBezTo>
                  <a:pt x="4131915" y="30156"/>
                  <a:pt x="3838229" y="51747"/>
                  <a:pt x="3596846" y="18288"/>
                </a:cubicBezTo>
                <a:cubicBezTo>
                  <a:pt x="3355463" y="-15171"/>
                  <a:pt x="3216495" y="-8549"/>
                  <a:pt x="3028923" y="18288"/>
                </a:cubicBezTo>
                <a:cubicBezTo>
                  <a:pt x="2841351" y="45125"/>
                  <a:pt x="2563851" y="5954"/>
                  <a:pt x="2298736" y="18288"/>
                </a:cubicBezTo>
                <a:cubicBezTo>
                  <a:pt x="2033621" y="30622"/>
                  <a:pt x="1714337" y="11070"/>
                  <a:pt x="1514461" y="18288"/>
                </a:cubicBezTo>
                <a:cubicBezTo>
                  <a:pt x="1314586" y="25506"/>
                  <a:pt x="1165062" y="-8736"/>
                  <a:pt x="892451" y="18288"/>
                </a:cubicBezTo>
                <a:cubicBezTo>
                  <a:pt x="619840" y="45312"/>
                  <a:pt x="333600" y="53109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08791" h="18288" stroke="0" extrusionOk="0">
                <a:moveTo>
                  <a:pt x="0" y="0"/>
                </a:moveTo>
                <a:cubicBezTo>
                  <a:pt x="236697" y="6934"/>
                  <a:pt x="424528" y="-29756"/>
                  <a:pt x="622011" y="0"/>
                </a:cubicBezTo>
                <a:cubicBezTo>
                  <a:pt x="819494" y="29756"/>
                  <a:pt x="940726" y="-5869"/>
                  <a:pt x="1135846" y="0"/>
                </a:cubicBezTo>
                <a:cubicBezTo>
                  <a:pt x="1330967" y="5869"/>
                  <a:pt x="1724216" y="30015"/>
                  <a:pt x="1920121" y="0"/>
                </a:cubicBezTo>
                <a:cubicBezTo>
                  <a:pt x="2116026" y="-30015"/>
                  <a:pt x="2367248" y="22324"/>
                  <a:pt x="2542132" y="0"/>
                </a:cubicBezTo>
                <a:cubicBezTo>
                  <a:pt x="2717016" y="-22324"/>
                  <a:pt x="2945324" y="-16375"/>
                  <a:pt x="3164143" y="0"/>
                </a:cubicBezTo>
                <a:cubicBezTo>
                  <a:pt x="3382962" y="16375"/>
                  <a:pt x="3726461" y="-22010"/>
                  <a:pt x="3948417" y="0"/>
                </a:cubicBezTo>
                <a:cubicBezTo>
                  <a:pt x="4170373" y="22010"/>
                  <a:pt x="4360066" y="-20293"/>
                  <a:pt x="4516340" y="0"/>
                </a:cubicBezTo>
                <a:cubicBezTo>
                  <a:pt x="4672614" y="20293"/>
                  <a:pt x="5081663" y="18402"/>
                  <a:pt x="5408791" y="0"/>
                </a:cubicBezTo>
                <a:cubicBezTo>
                  <a:pt x="5408108" y="5414"/>
                  <a:pt x="5408071" y="12510"/>
                  <a:pt x="5408791" y="18288"/>
                </a:cubicBezTo>
                <a:cubicBezTo>
                  <a:pt x="5246959" y="-2936"/>
                  <a:pt x="5119732" y="34845"/>
                  <a:pt x="4840868" y="18288"/>
                </a:cubicBezTo>
                <a:cubicBezTo>
                  <a:pt x="4562004" y="1731"/>
                  <a:pt x="4488380" y="51707"/>
                  <a:pt x="4164769" y="18288"/>
                </a:cubicBezTo>
                <a:cubicBezTo>
                  <a:pt x="3841158" y="-15131"/>
                  <a:pt x="3746315" y="27600"/>
                  <a:pt x="3542758" y="18288"/>
                </a:cubicBezTo>
                <a:cubicBezTo>
                  <a:pt x="3339201" y="8976"/>
                  <a:pt x="3133460" y="-19050"/>
                  <a:pt x="2758483" y="18288"/>
                </a:cubicBezTo>
                <a:cubicBezTo>
                  <a:pt x="2383507" y="55626"/>
                  <a:pt x="2315071" y="8722"/>
                  <a:pt x="1974209" y="18288"/>
                </a:cubicBezTo>
                <a:cubicBezTo>
                  <a:pt x="1633347" y="27854"/>
                  <a:pt x="1631333" y="40905"/>
                  <a:pt x="1406286" y="18288"/>
                </a:cubicBezTo>
                <a:cubicBezTo>
                  <a:pt x="1181239" y="-4329"/>
                  <a:pt x="973643" y="3629"/>
                  <a:pt x="730187" y="18288"/>
                </a:cubicBezTo>
                <a:cubicBezTo>
                  <a:pt x="486731" y="32947"/>
                  <a:pt x="249083" y="10156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04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989</Words>
  <Application>Microsoft Macintosh PowerPoint</Application>
  <PresentationFormat>自定义</PresentationFormat>
  <Paragraphs>380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Arial</vt:lpstr>
      <vt:lpstr>Calibri</vt:lpstr>
      <vt:lpstr>Office Theme</vt:lpstr>
      <vt:lpstr>Identifying Backup Generator Usage During Power Outages</vt:lpstr>
      <vt:lpstr>Project Background</vt:lpstr>
      <vt:lpstr>Research Objective</vt:lpstr>
      <vt:lpstr>Resilience Curve Framework </vt:lpstr>
      <vt:lpstr>Study Areas and Data</vt:lpstr>
      <vt:lpstr>Analytical Workflow</vt:lpstr>
      <vt:lpstr>PowerPoint 演示文稿</vt:lpstr>
      <vt:lpstr>PowerPoint 演示文稿</vt:lpstr>
      <vt:lpstr>Current Progress: Data Availability</vt:lpstr>
      <vt:lpstr>Thanks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Zhao, Zhiyuan</cp:lastModifiedBy>
  <cp:revision>17</cp:revision>
  <dcterms:created xsi:type="dcterms:W3CDTF">2013-01-27T09:14:16Z</dcterms:created>
  <dcterms:modified xsi:type="dcterms:W3CDTF">2026-01-29T21:11:44Z</dcterms:modified>
  <cp:category/>
</cp:coreProperties>
</file>